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692640" y="658368"/>
            <a:ext cx="178308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786384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20700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FINANCIAL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Financial Analysis for Small and Medium Enterprises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TGS-2026064860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v11  ·  10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will show you the digital attendance QR code generated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BACKGROUND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PhD; ACTA/ACLP-certified trainer with deep experience in data analytics, finance and business applications.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financial analysis, accounting systems, data analytics and business software.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accounting or finance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analyse or decide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stupid.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one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 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Go to https://lms-tms.tertiaryinfotech.com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Log in with your registered email — an OTP is sent to you.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Open your course: Financial Analysis for Small and Medium Enterprises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Download the slides, Learner Guide and activity worksheets.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them handy — the final assessment is open book.</a:t>
            </a:r>
          </a:p>
        </p:txBody>
      </p:sp>
      <p:pic>
        <p:nvPicPr>
          <p:cNvPr id="8" name="Picture 7" descr="l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047" y="1828800"/>
            <a:ext cx="3487266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Financial Statements &amp; Financial Ratios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Digital Attendance (AM)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Trainer and learner introductions · Learning outcomes · Course outline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Understanding Financial Statements (Activity 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break · Digital Attendance (PM)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Analysing Financial Ratios (Activities 2–3)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Planning, Budgeting &amp; Final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Digital Attendance (AM)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Planning &amp; Budgeting using Financial Statements (Activities 4–6)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break · Digital Attendance (PM)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Revision · Course feedback &amp; TRAQOM survey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Digital Attendance (Assessment) · Final Assessment (WA + 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(TSC)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TSC Title · Code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Financial Analysis  ·  ACC-MAC-5004-1.1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 K1–K2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Statement of financial position · Balance sheet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 K3–K4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Income and cash flow statements · Statement of changes in equity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 K5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Financial statement analysis techniques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 A1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trends by comparing ratios across time periods and statement types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 A2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Prepare and interpret performance and position using financial statements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LO1 — Understand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Financial statements: the balance sheet, income statement and cash flow statement.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LO2 — Evaluate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organisation's financial performance from the trend of financial ratios.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LO3 — Analyze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Financial statements and prepare the organisation's position.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 — 3 Topics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Topic 1 (K1–K3)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Overview of Finance and Chart of Accounts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Balance Sheet Statement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Profit and Loss (P&amp;L) Statement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Cash Flow Statement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Topic 2 (K4, A1)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Ratios for Corporate Profitability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Ratios for Corporate Performance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Equity Changes Statement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Topic 3 (K5, A2)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Analyse Financial Statements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Financial Planning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Capital Budgeting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Minimum attendance rate of 75% based on the SSG Digital Attendance record.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assessment and be assessed as 'Competent'.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or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Assessment scripts are collected when the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financial-analysis tasks on real statements,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Understanding Financial Statements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Overview of Finance and Chart of Accounts · Balance Sheet Statement · Profit and Loss (P&amp;L) Statement · Cash Flow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K1 · K2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Understanding Financial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Finance &amp; accounting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Why finance matters to every business decision — the language of the boardroom.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Chart of accounts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general-ledger account structure that every transaction is recorded against.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Balance sheet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Assets = Liabilities + Equity — the statement of financial position at a point in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Income statement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Revenue − Expenses = Profit — financial performance over an accounting period.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Cash flow statement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Operating, investing and financing cash movements — where the cash actually went.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Double-entry 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Debits equal credits, so the accounting equation always balances.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BUSINESS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Finance is attaining money, investing it, and gaining a return on investment.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Any business decision has financial impact — finance is the common language of the boardroom.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WHY FINANCE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Significance of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Any business decision has financial impact.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It is the common language used in board meetings.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more you understand finance, the more the insights.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Dealing with finance people becomes easy.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Relate finance to your own business unit.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Drive and achieve better performance.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CORPORATE ORG STRUCTURE ·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Finance Business Unit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FP&amp;A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Budgeting, forecasting, actual vs variance, management reports.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Operations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Purchases and payables · expenses · sales and receivables.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Internal controls, audit, processes and policies.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Systems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Finance tools, transformation, ERP implementation, data &amp; BI.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M&amp;A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Due diligence, checklists, M&amp;A budget, pre/post-integration.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Tax &amp; Treasury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Corporate tax, GST, tax audit and cash flow management.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LENDERS ↔ BORROWERS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Financial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Lenders &amp; regulators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Borrowers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Regulators &amp; institutions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Ministry of Finance · ACRA · IRAS · SAC · CPF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Banks · insurance companies · mutual funds · private equity funds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Lenders provide capital to the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Borrowers &amp; businesses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Sole proprietorship · partnership / LLP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Private company · public listed company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Non-profit organisations · individuals · foreign companies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Accounting — the Big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Three questions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much money do I need? How do I raise it? How do I manage it?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equation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Assets = Liabilities + Owner's Equity — always in balance.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mechanics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Double entry · transaction analysis · summary of transactions.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outputs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Income statement · owner's equity statement · balance sheet · statement of cash flows.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WHY WE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Objectives &amp; Advantages of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Objectives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Maintain a systematic record of transactions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Ascertain profit or loss and financial position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Assist management and communicate information to users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Prevent manipulation and fraud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Advantages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Financial information about the business; replaces memory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Facilitates benchmarking, tax settlement and loans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Evidence in court; facilitates sale of the business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Helps in decision making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ACCOUNTING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Types of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Financial accounting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Aggregates financial information into external reports — IFRS, GAAP.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Management accounting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Internal operational reporting — cost accounting, payroll, payables.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Tax accounting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Compliance with tax regulations, filings and future tax planning.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Auditing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Assurance that financial statements fairly present results and position.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Forensic accounting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Reconstruction of financial information when records are incomplete.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Internal auditing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Examination of systems and transactions to spot weaknesses, fraud and waste.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TRANSACTION TO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Accounting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counting-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280" y="1783080"/>
            <a:ext cx="4491134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transactions → journal entries → ledger → trial balance → adjustments → financial statements → close.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TIMEFRAMES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Accounting Periods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An accounting period is the time span for which financial statements are prepared — e.g. a calendar year, a quarter or a month.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The income statement and cash flow statement report amounts occurring DURING the period.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The balance sheet reports assets and liabilities AS AT the final moment of the period.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LEDGER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Chart of 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chart of accounts lists the account names a company uses to record transactions in its general ledger.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Typical numbering: assets, liabilities, equity, revenue and expenses.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account maps to either the balance sheet or the income statement.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Companies tailor the chart to their needs and add accounts as required.</a:t>
            </a:r>
          </a:p>
        </p:txBody>
      </p:sp>
      <p:pic>
        <p:nvPicPr>
          <p:cNvPr id="8" name="Picture 7" descr="chart-of-accou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987" y="1828800"/>
            <a:ext cx="2987386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RECORDING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Single-Entry vs Double-Entry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Single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Double 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Single entry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One entry per transaction, centred on the income statement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Tracks cash receipts and disbursements — the cash book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Assets and liabilities are not tracked systematically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Suitable only for the simplest businesses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Double entry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Every transaction hits at least two accounts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Debits always equal credits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The accounting equation stays in balance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The standard for every modern accounting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WHICH SIDE INCREASES?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Double-Entry Rules — Debits &amp; Credits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bit-credit-ru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853198"/>
            <a:ext cx="10607040" cy="42031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Assets and expenses increase with debits; liabilities, equity and revenue increase with credits.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GENERAL JOURNAL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Double-Entry Bookkeeping — Journal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ouble-entry-jou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783080"/>
            <a:ext cx="868680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$10,000 cash sale: debit Cash (A/C 301), credit Sales (A/C 401).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RECORDING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Bookkeeping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Bookkeeping is the systematic gathering and recording of a company's financial transactions.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Transactions are identified, approved, sorted and stored so they can be retrieved and presented in reports.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Examples: purchase of supplies with cash · purchase/sale of merchandise on credit · rent · salaries and wages · buying equipment · borrowing from a bank.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FINANCIAL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Key Financial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Balance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Statement of financial position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Assets = Liabilities + Equity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Liquidity and net worth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snapshot AS AT a 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Income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Profit &amp; Loss statement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Profits = Revenues − Expenses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Profitability over a period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Top line to bottom 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Cash Flow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Movement of cash in the business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Operating · investing · financing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Where cash came from and went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Reconciles to the cash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WHO READS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Users of Financial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Management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the business — plans, budgets and performance reviews.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Investors &amp; owners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Assess returns, growth and the safety of their capital.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Lenders &amp; creditors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Judge the ability to repay loans and trade credit.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Regulators &amp; tax authorities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Compliance — ACRA filings, IRAS tax computations.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Suppliers &amp; customers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Decide whether to extend credit or rely on the firm.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Employees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Job security, bonuses and profit-sharing.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BALANCE SHEET · THE FUNDAMENTAL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Assets = Liabilities + Owners' Equity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balance sheet shows what the business owns (utilisation of funds) against what it owes and what the owners put in (sources of funds).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ASSETS = LIABILITIES +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Accounting Equation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counting-eq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350" y="1783080"/>
            <a:ext cx="2976995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Assets are what I own; liabilities are what I owe; equity is what is left for the owners.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Sheet — Definitions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Assets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Resources that will provide a benefit in the future — utilisation of funds.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Liabilities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Obligations to repay money or provide a service in the future.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Owners' Equity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Money provided to the company by the owners.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Retained Earnings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Net income that is re-invested in the business.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Sheet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Liabilities &amp; Equity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Assets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Current assets: cash &amp; equivalents, receivables, inventories, marketable securities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Long-term assets: plant, property &amp; equipment (PP&amp;E), intangible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Liabilities &amp; Equity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Current liabilities: accounts payable, current debt, current portion of LT debt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Long-term liabilities: bonds payable, long-term debt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Shareholders' equity: share capital + retained earnings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XYZ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Sheet —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lance-sheet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789" y="1783080"/>
            <a:ext cx="2564117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Current and long-term assets vs current and long-term liabilities and owners' equity.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READ WITH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Sheet —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The balance sheet is a static document — it depicts assets and liabilities 'as on date X' only.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Assets are expressed at book value (historic cost less depreciation), which may differ from market value.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Not all assets appear — e.g. internally-generated intangibles such as patents and a skilled workforce.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LIQUID · QUICK TO CONVERT TO CASH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Current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Cash &amp; equivalents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Legal tender, bills, coins, cheques; banker's acceptances, commercial paper, securities maturing &lt; 90 days.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Accounts receivable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Funds owed by customers — recorded once goods or services are delivered.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Inventories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Raw materials, work-in-progress and finished goods held for sale.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Marketable securities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Common stock, treasury bills and bonds maturing within one year.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NON-CURRENT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Long-Term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PP&amp;E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Plant, property and equipment — the tangible productive base of the business.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Depreciation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Spreads the asset's cost over time to match the income it produces; the method chosen affects results.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Intangible assets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Patents, trademarks, goodwill — non-physical assets with economic value.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Working capital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Current assets − current liabilities: the funds available to run daily operations.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DEPRECIATION OF PP&amp;E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Four Depreciation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8983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Straight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(Cost − Salvage) / Useful 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28800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$50,000 over 10 years → $5,000/yr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46654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46654"/>
            <a:ext cx="91440" cy="8983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46654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Double declining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46654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 × SL rate × Book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946654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Higher expense in early years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4508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91440" cy="8983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64508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Units of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64508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(Units / Life units) × (Cost − Salvage)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064508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3M of 100M units on $50,000 → $1,500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82362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82362"/>
            <a:ext cx="91440" cy="8983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182362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Sum of years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182362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(Remaining life / SYD) × (Cost − Salvage)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5182362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$25,000, 8 yrs → yr 1 $5,556, yr 2 $4,861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OBLIGATIONS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Current (&lt; 1 year)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Long-term (&gt; 1 year)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Current liabilities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Accounts payable — money owed to vendors and suppliers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Current debt / notes payable — borrowings payable within one year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Current portion of long-term debt accrued this operating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Long-term liabilities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Bonds payable — principal at a future date, periodic interest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Bond types: serial, sinking fund, convertible, registered, secured, debenture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Long-term debt — owed to creditors beyond 12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OWNERS' STAKE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Shareholders'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 capital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Money invested by the owners — common or preferred shares.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Capital stages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Authorized → issued → subscribed → called-up → paid-up capital.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Retained earnings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Net profits kept in the company after all dividends and distributions.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Private equity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Ownership interest in a private company.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INCOME STATEMENT · THE FUNDAMENTAL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Profits = Revenues − Expenses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income statement (Profit &amp; Loss) shows financial performance across an accounting period, from the top line to the bottom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TOP LINE TO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Income Statement —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•  Revenue — the total of all sales (top line)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− Cost of Goods Sold: direct materials, labour, overheads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•  = Gross Profit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− Operating expenses: rental, admin payroll, utilities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•  = Operating Profit (EBIT)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− Interest expenses on debt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•  = Profit before Tax → − Tax = Profit after Tax</a:t>
            </a:r>
          </a:p>
        </p:txBody>
      </p:sp>
      <p:pic>
        <p:nvPicPr>
          <p:cNvPr id="8" name="Picture 7" descr="income-statement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981" y="1828800"/>
            <a:ext cx="3729398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Income Statement — Key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Revenue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Money actually received in the period, net of discounts and returns — the top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Expenses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Economic costs incurred to earn revenue; tax-deductible expenses lower taxable income.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EBITDA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Earnings before interest, tax, depreciation and amortization — operating performance without financing/accounting effects.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Depreciation &amp; amortization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Wear-and-tear of tangible assets (depreciation) and write-down of intangibles (amortization).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mandatory financial charge imposed by the government on income.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 income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What remains for the owners after every expense — the bottom line.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PROFIT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Summary of Income Statement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Revenue − COGS = Gross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− Marketing, selling &amp; admin = EBITDA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− Depreciation &amp; amortization = EBIT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− Interest &amp; other expenses = EBT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− Tax = Net Income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WHEN IS REVENUE RECOGNIZED?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vs Accrual Basis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crual-vs-c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138" y="1783080"/>
            <a:ext cx="7901418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Accrual basis: recognise when the work is done. Cash basis: recognise when the cash is received.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FOLLOW THE CASH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Flow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 it shows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movement of cash in the business — incoming and outgoing money.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Operating activities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Converts income-statement items from accrual to cash: sales income and production expenses.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Investing activities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Purchase and sale of long-term investments and PP&amp;E — gains or losses on assets.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Financing activities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Issuance/repurchase of stock and bonds, loans and dividend payments.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Flow Statement —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sh-flow-statement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068" y="1783080"/>
            <a:ext cx="4453558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Operating, investing and financing blocks reconcile the opening cash balance to the closing balance.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Prepare a Cash Flow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20116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You are given the Balance Sheet (2018 and 2019) and the Income Statement (2019) of a company, all figures in $ million. Working in Excel or on paper, derive the statement of cash flows — operating, investing and financing — and reconcile it to the change in cash.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77639"/>
            <a:ext cx="10698480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complete statement of cash flows (operating / investing / financing) derived from the balance sheet and income statement.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Excel (or Google Sheets), activity worksheet from the LMS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Detailed step-by-step: see this activity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Understanding Financial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chart of accounts and double-entry rules keep the books in balance.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balance sheet shows position: Assets = Liabilities + Equity.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income statement shows performance: Profits = Revenues − Expenses.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cash flow statement shows where the cash actually moved.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prepared a full cash flow statement from a balance sheet and income statement.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Analysing Financial Ratios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Ratios for Corporate Profitability · Ratios for Corporate Performance · Equity Changes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Analysing Financial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Liquidity ratios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Current, quick, cash and operating-cash-flow ratios — can the firm pay its short-term bills?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Leverage ratios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Debt, debt-to-equity, interest coverage — how much risk is carried in the capital structure?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Efficiency ratios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Inventory, receivables, payables and asset turnover — how hard are the assets working?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Profitability ratios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Gross, operating, net margins, ROA, ROCE, ROE, EPS — is the business earning enough?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Equity changes statement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Reconciles opening to closing equity — share capital, dividends, retained earnings.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Trend analysis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ratios across periods and statement types to spot direction and risk (A1).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ANALYST'S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Financial Ratio Analysis?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Financial ratios are mathematical indicators calculated by comparing key figures in the financial statements.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They explain the reasons behind the current financial position and recent performance — and build expectations for the future.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Example: net profit margin compares net income with net revenue — the dollars of profit earned per $100 of sales.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Ratios only become meaningful against a benchmark: peers, the industry, or the company's own trend.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COMPARATIVE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Identifying Relevant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rative-ratio-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032" y="1783080"/>
            <a:ext cx="8697631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Profitability, liquidity, leverage, efficiency and market-value ratios compared across companies.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WHY RATIOS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Benefits of Financial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Understand the profitability of the business.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Analyse operational efficiency.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Identify the liquidity of the business.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Identify business risks.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Identify financial risks.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Plan for the future.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RATIO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Four Ratio Families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Liquidity &amp; Leverage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Current, quick, cash ratios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Operating cash flow ratio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Debt &amp; debt-to-equity ratios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Interest &amp; debt service coverage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Asset turnover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Inventory turnover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Receivables &amp; payables turnover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Collection &amp; payment periods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Profitability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Gross / operating / net margins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Return on assets &amp; equity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Return on capital employed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Earnings per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CAN THE FIRM PAY ITS BILLS?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Liquidity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8983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Current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Current Assets / Current Liabilities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28800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≥ 1 means current assets cover current bills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46654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46654"/>
            <a:ext cx="91440" cy="8983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46654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Quick (Acid Test)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46654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(Cash + Securities + Receivables) / 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946654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Most readily available assets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4508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91440" cy="8983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64508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Cash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64508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(Cash + Cash Equivalents) / CL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064508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Normal value is below 1.00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82362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82362"/>
            <a:ext cx="91440" cy="8983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182362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Operating Cash Flow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182362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Operating Cash Flow / 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5182362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Cash generated vs short-term obligations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the Liquidity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Current ratio ≥ 1: current assets exceed current liabilities — no expected liquidity problem; below 1 signals possible stress.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Quick ratio strips out inventory; a rule of thumb is 0.5, but always compare with the industry.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 quick ratio below the industry average may mean difficulty honouring current obligations.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Creditors like a high cash ratio — but idle cash earns nothing, so firms typically hold less than 1.00.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COMPANY A VS COMPANY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Quick Ratio — Worked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uick-ratio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2191532"/>
            <a:ext cx="10607040" cy="3526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Quick assets over current liabilities: Company A 0.95 vs Company B 1.21.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HOW MUCH RISK IN THE CAPITAL STRUCTURE?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Leverage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67482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674827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329184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Debt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40233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Total Debt / Total Assets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28800"/>
            <a:ext cx="26517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&lt; 0.5 stable · &gt; 0.5 stability issue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23083"/>
            <a:ext cx="10634472" cy="67482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23083"/>
            <a:ext cx="91440" cy="67482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723083"/>
            <a:ext cx="329184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Debt-to-Equity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23083"/>
            <a:ext cx="40233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Total Liabilities / Shareholders' Equity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723083"/>
            <a:ext cx="26517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1.00 = half debt-financed; lower is safer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17366"/>
            <a:ext cx="10634472" cy="67482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17366"/>
            <a:ext cx="91440" cy="674827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617366"/>
            <a:ext cx="329184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Times Interest Earned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617366"/>
            <a:ext cx="40233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EBIT / Interest Expense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617366"/>
            <a:ext cx="26517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Can earnings cover the interest bill?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11649"/>
            <a:ext cx="10634472" cy="67482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11649"/>
            <a:ext cx="91440" cy="67482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511649"/>
            <a:ext cx="329184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Fixed Charge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511649"/>
            <a:ext cx="40233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(EBIT + Lease pmts) / (Interest + Lease pmts)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4511649"/>
            <a:ext cx="26517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Adds lease obligations to the 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05932"/>
            <a:ext cx="10634472" cy="67482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05932"/>
            <a:ext cx="91440" cy="674827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05932"/>
            <a:ext cx="329184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Debt Service 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405932"/>
            <a:ext cx="40233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Operating Income / Total Debt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5405932"/>
            <a:ext cx="26517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Principal + interest 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the Leverage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Debt ratio measures the risk that assets cannot pay off debts — critical for long-term sustainability.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Very low debt can also mean under-utilised financing and restricted growth.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 rising debt-to-equity trend is a warning: more of the assets are financed by lenders.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Higher times-interest-earned is favourable — the company earns enough to pay its interest.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HOW HARD ARE THE ASSETS WORKING?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Efficiency Ratios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8983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Asset Turnover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 Sales / Average Total Assets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28800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Revenue per dollar of assets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46654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46654"/>
            <a:ext cx="91440" cy="8983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46654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Inventory Turnover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46654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COGS / Average Inventories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946654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 = efficient; low = over-stocking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4508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91440" cy="8983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64508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Receivables Turnover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64508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 Credit Sales / Average 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064508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How fast credit sales are collected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82362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82362"/>
            <a:ext cx="91440" cy="8983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182362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Payables Turnover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182362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 Purchases / Average 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5182362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How quickly suppliers are repaid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TURNOVER &amp;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Efficiency Ratios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89839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Fixed Asset Turnover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 Revenue / Average Fixed Assets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28800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Revenue per dollar of fixed assets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46654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46654"/>
            <a:ext cx="91440" cy="8983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46654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Working Capital Turnover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46654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Revenue / Average Working Capital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946654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Revenue per dollar of working capital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4508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91440" cy="89839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64508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Average Collection Period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64508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365 / Receivables Turnover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064508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 $40k on sales $400k → 36.5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82362"/>
            <a:ext cx="10634472" cy="89839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82362"/>
            <a:ext cx="91440" cy="8983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182362"/>
            <a:ext cx="329184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Average Payment 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182362"/>
            <a:ext cx="40233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365 / Payables Turnover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5182362"/>
            <a:ext cx="2651760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 turnover 2 → 182.5 days to pay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COMPANY A VS COMPANY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Inventory Turnover — Worked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ventory-turnover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2191080"/>
            <a:ext cx="10607040" cy="35273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COGS over average inventory: Company A turns 2.33× vs Company B 1.75×.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IS THE BUSINESS EARNING ENOUGH?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Profitability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5257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5257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329184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Gross Profit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402336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Gross Profit /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28800"/>
            <a:ext cx="265176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Production efficiency / pricing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74036"/>
            <a:ext cx="10634472" cy="5257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74036"/>
            <a:ext cx="91440" cy="5257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574036"/>
            <a:ext cx="329184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Operating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74036"/>
            <a:ext cx="402336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Operating Income (EBIT) /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574036"/>
            <a:ext cx="265176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9% → $0.09 profit per $1 of sales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10634472" cy="5257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5257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319272"/>
            <a:ext cx="329184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Net Profit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319272"/>
            <a:ext cx="402336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 Income / Net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319272"/>
            <a:ext cx="265176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most basic profitability measure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64508"/>
            <a:ext cx="10634472" cy="5257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4508"/>
            <a:ext cx="91440" cy="5257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064508"/>
            <a:ext cx="329184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Return on Assets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64508"/>
            <a:ext cx="402336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 Income / Average Total Assets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4064508"/>
            <a:ext cx="265176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Cents earned per dollar of assets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9744"/>
            <a:ext cx="10634472" cy="5257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9744"/>
            <a:ext cx="91440" cy="5257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809744"/>
            <a:ext cx="329184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Return on Capital Employed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809744"/>
            <a:ext cx="402336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 Operating Profit / Capital Employed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4809744"/>
            <a:ext cx="265176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Includes long-term finance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554980"/>
            <a:ext cx="10634472" cy="5257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554980"/>
            <a:ext cx="91440" cy="5257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554980"/>
            <a:ext cx="329184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Return on Equity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554980"/>
            <a:ext cx="402336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Net Income / Average Shareholders' Equity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5554980"/>
            <a:ext cx="2651760" cy="525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owners' return on new investment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the Profitability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Higher ratios are more favourable — they reflect the ability to generate earnings.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Compare only within the same industry: asset-heavy industries naturally show lower ROA.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 rising ROA / ROE trend means profitability is improving; a falling trend means it is deteriorating.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ROE can be manipulated with debt — never rely on ROE alone for investment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COMPANY A VS COMPANY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 Profit Ratio — Worked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et-profit-ratio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2060666"/>
            <a:ext cx="10607040" cy="37882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Net profit over net sales: Company A 26% vs Company B 25%.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PER-SHARE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Earnings Per Share (EPS)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EPS = (Net Income − Preferred Dividends) / Weighted Average Common Shares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Standardises earnings by the number of shares outstanding.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Not comparable alone — different companies have different share counts.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Feeds the price-to-earnings (P/E) ratio used by investors.</a:t>
            </a:r>
          </a:p>
        </p:txBody>
      </p:sp>
      <p:pic>
        <p:nvPicPr>
          <p:cNvPr id="8" name="Picture 7" descr="eps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251636"/>
            <a:ext cx="5486400" cy="13605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Measuring Profitability — Sample Company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Gross Margin: 37.50%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Operating Margin: 26.67%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Net Profit Margin: 16.67%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Return on Equity: 9.09%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Return on Assets: 4%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Derived from the sample balance sheet and income statement shown.</a:t>
            </a:r>
          </a:p>
        </p:txBody>
      </p:sp>
      <p:pic>
        <p:nvPicPr>
          <p:cNvPr id="8" name="Picture 7" descr="sample-company-stat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449" y="1828800"/>
            <a:ext cx="4044461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 · EQUITY CHANGES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Statement of Changes in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it 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Also called the statement of retained earnings — reconciles opening to closing equity.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equation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Beginning Equity + Net Income − Dividends ± Other changes = Ending Equity.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Components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Opening balance · policy changes · prior-period corrections · restated balance.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More components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Changes in share capital · dividends · income/loss · revaluation reserve · other gains and losses.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ONE-PAGE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Summary of All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Liquidity &amp; Leverage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Efficiency &amp; Profitability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Liquidity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Current = CA / CL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Acid test = (CA − Inventories) / CL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Cash = Cash &amp; equivalents / CL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Operating CF = OCF / CL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Leverage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Debt = Total liabilities / Total assets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Debt-to-equity = Total liabilities / Equity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Debt service coverage = Op. income / Debt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Efficiency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Asset turnover = Net sales / Avg total assets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Inventory turnover = COGS / Avg inventory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Receivables turnover = Net sales / Avg AR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Payables turnover = Net purchases / Avg AP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Profitability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Gross margin = Gross profit / Net sales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Operating margin = EBIT / Net sales · Net margin = NI / Net sales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ROE = NI / Equity · ROA = NI / Total assets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Ratio Analysis of Two Companies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20116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You are a financial analyst evaluating two companies, X and Y, from their balance sheets and income statements. Compute the liquidity, profitability, turnover and solvency ratios for both companies and comment on which company performs better on each parameter.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77639"/>
            <a:ext cx="10698480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completed ratio-analysis worksheet comparing Company X and Company Y across four ratio families, with a one-line verdict per ratio.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Excel (or Google Sheets), activity worksheet from the LMS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Detailed step-by-step: see this activity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Trend Analysis over Four Years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20116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You are given four years (2018–2021) of a company's balance sheet and income statement. Compute year-on-year growth for every line item, derive the key ratios for each year, and present your observations on the company's direction.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77639"/>
            <a:ext cx="10698480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completed trend-analysis template: YoY growth for every balance-sheet and income-statement line plus a four-year ratio table with your observations.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Excel (or Google Sheets), activity template from the LMS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Detailed step-by-step: see this activity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Analysing Financial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Liquidity, leverage, efficiency and profitability — the four ratio families.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Every ratio needs a benchmark: industry, competitor or the company's own trend.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statement of changes in equity reconciles opening to closing equity.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compared two companies ratio-by-ratio and ran a four-year trend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Planning &amp; Budgeting using Financial Statements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Analyse Financial Statements · Financial Planning · Capital Budgeting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K5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Planning &amp; Budgeting using Financial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Budgeting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Baseline, incremental, zero-based and hybrid budgets — planning income vs spending.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Capital budgeting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Payback, discounted payback, NPV, PI and IRR — evaluating long-term investments.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 value of money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PV = FV / (1+i)^n — a dollar today is worth more than a dollar tomorrow.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Forecast &amp; variance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Budget vs actual vs forecast — favourable and adverse variances, thresholds.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Financial health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 the balance sheet, income and cash flow statements together, then ratio-check.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Analysis methods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Ratio, horizontal (trend) and vertical analysis, plus industry benchmarking (A2).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Budgeting is balancing your expenses with your income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by creating a plan to spend your money. To balance a budget you have two levers: increase income or decrease spending.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EXPENSES ·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Components of a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Fixed expenses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Stay the same month to month — e.g. rent payments.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Flexible expenses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 month to month — e.g. utilities.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Capital vs operating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Capital expenses buy long-term assets; operating expenses run the business.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Total income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Income from operations and other sources — investments, rentals and more.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Disposable income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What is left after taxes are subtracted.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Variance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gap between the plan and the actual outcome.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FOUR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Broad Budgeting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Baseline budget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Begins with a previous plan as the baseline.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Incremental budget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% or $ increment on the previous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Zero-based budget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Starts fresh, like a brand-new plan.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Hybrid budget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combination of any of the above.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TERMS YOU WILL MEET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Budgeting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Fiscal year · budget communications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Budget targets · budget guidelines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Annual plan · budget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Board review · approved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Forecast · actual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Variance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WHY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Budgeting —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Provides clear structure, guidance and a basis for the action plan.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Predicts expected cash flows and allocates resources to the right activities.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Lets management prioritise projects and model scenarios — worst, median, best and custom cases.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Measures actual performance against the approved plan and analyses the causes of variances.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Ensures control over spending and mandates responsibility and accountability.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MAKING BUDGETS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Budgeting — Advantages &amp; Success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Success 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Advantages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Planning orientation and profitability review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Assumptions review and performance evaluation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Funding planning and cash allocation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Bottleneck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Success factors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Management support and employee involvement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Clear organisational goals and responsibility accounting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Sound accounting system and organisational structure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Flexibility and communication of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STAKEHOLDER INPUT TO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Budgeting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udget-proc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889" y="1783080"/>
            <a:ext cx="4623917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Stakeholder input → goal setting → needs assessment → direction → operating budgets → adoption → monitoring → adjustment.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BUDGET OVERVIEW · FY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Sample Budget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ample-budget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413" y="1783080"/>
            <a:ext cx="7656868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monthly phased budget: revenue and expense lines with totals for the fiscal 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INVESTING FOR THE LONG 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Capital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Planning for long-term investments in projects and assets.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Cash, not profit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Focus on cash inflows and outflows, not accounting revenue and expenses.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 value of money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Adjust future cash flows to today's dollars before comparing.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 methods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Payback · discounted payback · NPV · profitability index · IRR.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 DOLLAR TODAY BEATS A DOLLAR TOMORROW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Time Value of Money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710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710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3291840" cy="1271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Present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4023360" cy="1271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PV = FV / (1 + i)^n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28800"/>
            <a:ext cx="2651760" cy="1271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$10,000 in 2 yrs @5% → $9,070.30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710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19272"/>
            <a:ext cx="3291840" cy="1271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Future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319272"/>
            <a:ext cx="4023360" cy="1271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FV = PV × (1 + i)^n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319272"/>
            <a:ext cx="2651760" cy="1271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$10,000 today @5% → $11,025 in 2 yrs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9744"/>
            <a:ext cx="10634472" cy="12710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9744"/>
            <a:ext cx="91440" cy="1271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09744"/>
            <a:ext cx="3291840" cy="1271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809744"/>
            <a:ext cx="4023360" cy="1271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PV · FV · N periods · Interest i · Payment PMT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809744"/>
            <a:ext cx="2651760" cy="1271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Opportunity cost: interest or inflation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SIX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Capital Budgeting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Identify long-term 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Identify investment proposals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Estimate &amp; analyse the cash 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Analyse financial feasibility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&amp; implement projects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Monitor the projects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FIVE DECISION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Capital Budgeting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67482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674827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329184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Payback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40233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Outlay / Annual cash inflow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28800"/>
            <a:ext cx="26517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$2,000 / $375 = 5.33 years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23083"/>
            <a:ext cx="10634472" cy="67482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23083"/>
            <a:ext cx="91440" cy="67482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723083"/>
            <a:ext cx="329184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Discounted Payback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23083"/>
            <a:ext cx="40233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Cumulative discounted CF ≥ outlay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723083"/>
            <a:ext cx="26517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Same project at 10% → ≈ 8 years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17366"/>
            <a:ext cx="10634472" cy="67482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17366"/>
            <a:ext cx="91440" cy="674827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617366"/>
            <a:ext cx="329184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Net Present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617366"/>
            <a:ext cx="40233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Σ PV(inflows) − Outlay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617366"/>
            <a:ext cx="26517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Accept if NPV &gt;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11649"/>
            <a:ext cx="10634472" cy="67482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11649"/>
            <a:ext cx="91440" cy="67482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511649"/>
            <a:ext cx="329184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Profitability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511649"/>
            <a:ext cx="40233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PV(inflows) / PV(outflows)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4511649"/>
            <a:ext cx="26517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Accept if PI &gt;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05932"/>
            <a:ext cx="10634472" cy="67482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05932"/>
            <a:ext cx="91440" cy="674827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05932"/>
            <a:ext cx="329184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Internal Rate of Return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405932"/>
            <a:ext cx="40233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Rate where NPV =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5405932"/>
            <a:ext cx="2651760" cy="6748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Accept if IRR &gt; threshold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DISCOUNTING THE CASH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Discounted Payback — Worked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scounted-payback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995564"/>
            <a:ext cx="10607040" cy="3918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future inflow is discounted before accumulating — payback arrives later than the simple method.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PI &gt; 1 →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Profitability Index — Worked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Discount every inflow at the required return.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PV of inflows $2,304 vs PV of outflows $2,000.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PI = 2,304 / 2,000 = 1.15 → accept the project.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NPV = $304 — the same accept signal.</a:t>
            </a:r>
          </a:p>
        </p:txBody>
      </p:sp>
      <p:pic>
        <p:nvPicPr>
          <p:cNvPr id="8" name="Picture 7" descr="profitability-index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623" y="1828800"/>
            <a:ext cx="3276113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Payback Period &amp; Discounted Payback Period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20116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project requires an initial outlay of $2,000 and returns $375 per year for 10 years. Compute the simple payback period, then repeat the exercise discounting each cash flow at 10% to find the discounted payback period.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77639"/>
            <a:ext cx="10698480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payback worksheet showing cumulative cash flow per year, the simple payback point (~5.3 years) and the discounted payback point (~8 years).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Excel (or Google Sheets), activity worksheet from the LMS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Detailed step-by-step: see this activity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 Present Value &amp; Profitability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20116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Using the same project ($2,000 outlay, $375/year for 10 years, 10% required return), compute the Net Present Value and the Profitability Index, and decide whether to accept the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77639"/>
            <a:ext cx="10698480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NPV/PI worksheet: PV of each inflow, NPV ≈ $304, PI ≈ 1.15, and an accept/reject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Excel (or Google Sheets), activity worksheet from the LMS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Detailed step-by-step: see this activity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MONTHLY CASH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Flow Analysis &amp;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Track the monthly statement of cash flows.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Improve cash flow: invoice promptly and chase receivables.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Negotiate supplier terms; manage inventory tightly.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Time capital spending; keep a cash buffer.</a:t>
            </a:r>
          </a:p>
        </p:txBody>
      </p:sp>
      <p:pic>
        <p:nvPicPr>
          <p:cNvPr id="8" name="Picture 7" descr="monthly-cash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811" y="1828800"/>
            <a:ext cx="5215737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FORECASTING THE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 Forma (Projected) Financial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Plan ahead and compare actual vs predicted performance.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 is projected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income statement and the balance sheet.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Cash flow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projected cash flow is derived from the other two statements.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Forecasting cash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Estimate monthly sales → predict receipt of payments → estimate costs.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CONTROL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Budget, Actual, Variance,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Budget: planned sales of $500,000.  Actual: sales of $400,000.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Variance: −$100,000 — or −20% of budget ($100,000 / $500,000).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Both the dollar and percentage variance appear on the Budget-to-Actual report.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Forecast: the projection of future periods from historical data, updated at regular intervals.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PLAN VS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vs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financial plan expressed in quantitative terms, prepared in advance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The financial expression of a business target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Sets targets · updated annually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Variance analysis: 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Forecast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Estimation of future trends from past and present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prediction of upcoming events and trends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 targets · updated at regular intervals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Variance analysis: 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ADVERSE VS FAVOURABLE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Types of Variances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Adverse variance: actual income below budget, or spending above budget — a deficit.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Favourable variance: actual income above budget, or spending below budget — a surplus.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Manage over/underspend with clear-cut thresholds in dollars or percent.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RAG-status thresholds trigger review at defined limits.</a:t>
            </a:r>
          </a:p>
        </p:txBody>
      </p:sp>
      <p:pic>
        <p:nvPicPr>
          <p:cNvPr id="8" name="Picture 7" descr="variance-thresho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64548"/>
            <a:ext cx="5486400" cy="33347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RISK PROFILING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Business &amp; Financial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High-risk company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Operates in a high-risk industry AND faces a risk of financial failure.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High-risk factors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Financial risk (banks, merchant accounts) · compliance · safety and statutory law.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Consequences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High-risk borrowers pay higher loan rates and larger down payments.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Risk types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Strategic · compliance · financial · operational · reputational risks.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Examples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Agriculture, construction and mining industries.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Low-risk company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Stable industry and sound finances — the reverse conditions.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THREE-STATEMENT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Determine the Financial Health of a Company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Balance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Debt relative to equity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Short-term liquidity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Tangible vs financial assets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Collection &amp; repayment cycles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Time to sell inventory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Income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Revenue growth by period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Gross profit margin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 profit % of revenue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Interest cover on debt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Payout vs reinvestment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Cash flow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Liquidity situation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Sources of cash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Free cash flow generated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Overall cash increase or decrease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RATIO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…then Ratio-Check the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Margins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Gross profit margin and net profit margin on revenue.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Coverage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Ability to meet obligations — debt and interest payments.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Liquidity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Current ratio and quick ratio for obligations under one year.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Leverage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Debt-to-equity: the financing mix.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Efficiency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Inventory turnover and total asset turnover.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Returns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ROE and ROA: profit from equity and from assets.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INVESTORS EXAMINE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Analysis for Investment Suitability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Revenues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Quantity, quality and timing · growth (ignore one-offs) · concentration · revenue per employee.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Profits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Gross, operating and net profit margins.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Operational efficiency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Receivables turnover and inventory turnover.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Market 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P/E ratio · price-to-book · PEG ratio.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Capital &amp; solvency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Return on equity · debt-to-equity · liquidity.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DuPont index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Net Profit Margin × Asset Turnover × Equity Multiplier = ROE decomposed.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SECTOR-SPECIFIC RATIOS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Industry Ratios — Banking &amp; Insurance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Insurance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Banking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Net interest margin = (Interest income − expense) / Total assets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Efficiency ratio = Non-interest expense / Revenue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Liquidity coverage ratio · leverage ratio · CET1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Insurance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Persistency = paying policyholders / active policyholders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Solvency = available / required solvency margin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Combined ratio · incurred claims ratio · claim settlement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AGAINST INDUSTRY AVERAGES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Benchmarking Financial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nchmarking-s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137" y="1783080"/>
            <a:ext cx="539142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Trend of US sectoral averages — compare your ratios against the sector, not in isolation.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LENSES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Statement Analysis —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Ratio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Generate the ratios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Compare against benchmarks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Track the ratio trend over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Horizontal (trend)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Compare across periods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% change of the same line item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Spot growth and deterioration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Vertical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Every line as % of a base figure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IS lines as % of gross sales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BS lines as % of total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% CHANGE ACROSS PERIODS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Horizontal Analysis —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orizontal-analysis-ex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269" y="1783080"/>
            <a:ext cx="8869156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Income statement lines for two years with the percentage change of each item.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FOUR-YEAR BALANCE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Horizontal Analysis — Case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orizontal-case-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179" y="1783080"/>
            <a:ext cx="5231336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Balance-sheet items tracked across 2018–2021 — the raw material for trend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EVERY LINE AS % OF THE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Vertical Analysis —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ertical-analysis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867" y="1783080"/>
            <a:ext cx="577196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Income-statement items expressed as a percentage of sales for three years.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Solvency &amp; Financial Risk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20116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Using the balance sheets and income statements of companies X and Y, compare the two companies in terms of solvency risk: debt-to-equity, financial leverage and interest coverage. Conclude which company is the riskier borrower.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77639"/>
            <a:ext cx="10698480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solvency comparison table (D/E, leverage, interest coverage) for X and Y with a risk verdict.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Excel (or Google Sheets), activity worksheet from the LMS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Detailed step-by-step: see this activity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Planning &amp; Budgeting using Financial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Budgets plan the spending; forecasts predict the outcome; variances close the loop.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Capital budgeting decisions: payback, discounted payback, NPV, PI and IRR.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Financial health = balance sheet + income statement + cash flow, then ratio-check.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Ratio, horizontal and vertical analysis — plus benchmarking — complete the toolkit.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evaluated an investment project and compared two companies' solvency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Financial statements (LO1)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and prepared balance sheets, income statements and cash flow statements.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Ratio analysis (LO2)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Evaluated performance with liquidity, leverage, efficiency and profitability ratios and their trends.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Planning &amp; budgeting (LO3)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Built budgets, evaluated investments (payback, NPV, PI) and assessed financial health and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WSQ - Quickbooks Accounting System for Small and Medium Enterprises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WSQ - Unlocking the Power of Accounting and Tax Systems for SMEs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WSQ - Statistical Data Analysis with Excel for Beginners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WSQ - Budgeting for Small and Medium Enterprises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WSQ - Software Automation with Excel VBA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If you have any enquiries during and after the class, contact us: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financial-analysis tasks on real statements,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Cert &amp; TRAQOM Survey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ert-traq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2408583"/>
            <a:ext cx="10607040" cy="30923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Scan the QR codes to receive your certificate and complete the TRAQOM survey.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will show you the digital attendance QR code generated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IN THE NEXT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read, analyse and plan with financial statements — and put them to work for your SME.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Financial Analysis for Small and Medium Enterprises  ·  TGS-2026064860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