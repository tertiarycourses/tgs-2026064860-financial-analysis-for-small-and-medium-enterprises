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92640" y="658368"/>
            <a:ext cx="178308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86384"/>
            <a:ext cx="1783080" cy="457200"/>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8" name="TextBox 7"/>
          <p:cNvSpPr txBox="1"/>
          <p:nvPr/>
        </p:nvSpPr>
        <p:spPr>
          <a:xfrm>
            <a:off x="9692640" y="1207008"/>
            <a:ext cx="1783080" cy="365760"/>
          </a:xfrm>
          <a:prstGeom prst="rect">
            <a:avLst/>
          </a:prstGeom>
          <a:noFill/>
        </p:spPr>
        <p:txBody>
          <a:bodyPr wrap="square" anchor="t">
            <a:spAutoFit/>
          </a:bodyPr>
          <a:lstStyle/>
          <a:p>
            <a:pPr algn="ctr">
              <a:spcAft>
                <a:spcPts val="400"/>
              </a:spcAft>
            </a:pPr>
            <a:r>
              <a:rPr sz="900" b="1">
                <a:solidFill>
                  <a:srgbClr val="FFFFFF"/>
                </a:solidFill>
                <a:latin typeface="Arial"/>
              </a:rPr>
              <a:t>FINANCIAL ANALYSIS</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Financial Analysis for Small and Medium Enterprises</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TGS-2026064860</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v12  ·  11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 or administrator will show you the digital attendance QR code generated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BACKGROUND</a:t>
            </a:r>
          </a:p>
          <a:p>
            <a:pPr algn="l">
              <a:spcAft>
                <a:spcPts val="300"/>
              </a:spcAft>
            </a:pPr>
            <a:r>
              <a:rPr sz="1400" b="0">
                <a:solidFill>
                  <a:srgbClr val="161B26"/>
                </a:solidFill>
                <a:latin typeface="Arial"/>
              </a:rPr>
              <a:t>PhD; ACTA/ACLP-certified trainer with deep experience in data analytics, finance and business applications.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financial analysis, accounting systems, data analytics and business software.</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accounting or finance (if any).</a:t>
            </a:r>
          </a:p>
          <a:p>
            <a:pPr>
              <a:spcAft>
                <a:spcPts val="1000"/>
              </a:spcAft>
            </a:pPr>
            <a:r>
              <a:rPr sz="2000" b="0">
                <a:solidFill>
                  <a:srgbClr val="161B26"/>
                </a:solidFill>
                <a:latin typeface="Arial"/>
              </a:rPr>
              <a:t>•  What you want to be able to analyse or decide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stupid.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one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600" b="0">
                <a:solidFill>
                  <a:srgbClr val="161B26"/>
                </a:solidFill>
                <a:latin typeface="Arial"/>
              </a:rPr>
              <a:t>•  Go to https://lms-tms.tertiaryinfotech.com</a:t>
            </a:r>
          </a:p>
          <a:p>
            <a:pPr>
              <a:spcAft>
                <a:spcPts val="1000"/>
              </a:spcAft>
            </a:pPr>
            <a:r>
              <a:rPr sz="1600" b="0">
                <a:solidFill>
                  <a:srgbClr val="161B26"/>
                </a:solidFill>
                <a:latin typeface="Arial"/>
              </a:rPr>
              <a:t>•  Log in with your registered email — an OTP is sent to you.</a:t>
            </a:r>
          </a:p>
          <a:p>
            <a:pPr>
              <a:spcAft>
                <a:spcPts val="1000"/>
              </a:spcAft>
            </a:pPr>
            <a:r>
              <a:rPr sz="1600" b="0">
                <a:solidFill>
                  <a:srgbClr val="161B26"/>
                </a:solidFill>
                <a:latin typeface="Arial"/>
              </a:rPr>
              <a:t>•  Open your course: Financial Analysis for Small and Medium Enterprises</a:t>
            </a:r>
          </a:p>
          <a:p>
            <a:pPr>
              <a:spcAft>
                <a:spcPts val="1000"/>
              </a:spcAft>
            </a:pPr>
            <a:r>
              <a:rPr sz="1600" b="0">
                <a:solidFill>
                  <a:srgbClr val="161B26"/>
                </a:solidFill>
                <a:latin typeface="Arial"/>
              </a:rPr>
              <a:t>•  Download the slides, Learner Guide and activity worksheets.</a:t>
            </a:r>
          </a:p>
          <a:p>
            <a:pPr>
              <a:spcAft>
                <a:spcPts val="1000"/>
              </a:spcAft>
            </a:pPr>
            <a:r>
              <a:rPr sz="1600" b="0">
                <a:solidFill>
                  <a:srgbClr val="161B26"/>
                </a:solidFill>
                <a:latin typeface="Arial"/>
              </a:rPr>
              <a:t>•  Keep them handy — the final assessment is open book.</a:t>
            </a:r>
          </a:p>
        </p:txBody>
      </p:sp>
      <p:pic>
        <p:nvPicPr>
          <p:cNvPr id="8" name="Picture 7" descr="lms-login.png"/>
          <p:cNvPicPr>
            <a:picLocks noChangeAspect="1"/>
          </p:cNvPicPr>
          <p:nvPr/>
        </p:nvPicPr>
        <p:blipFill>
          <a:blip r:embed="rId2"/>
          <a:stretch>
            <a:fillRect/>
          </a:stretch>
        </p:blipFill>
        <p:spPr>
          <a:xfrm>
            <a:off x="7126047" y="1828800"/>
            <a:ext cx="3487266"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Financial Statements &amp; Financial Ratios</a:t>
            </a:r>
          </a:p>
          <a:p>
            <a:pPr>
              <a:spcAft>
                <a:spcPts val="1000"/>
              </a:spcAft>
            </a:pPr>
            <a:r>
              <a:rPr sz="1400" b="0">
                <a:solidFill>
                  <a:srgbClr val="5B6372"/>
                </a:solidFill>
                <a:latin typeface="Arial"/>
              </a:rPr>
              <a:t>–  Digital Attendance (AM)</a:t>
            </a:r>
          </a:p>
          <a:p>
            <a:pPr>
              <a:spcAft>
                <a:spcPts val="1000"/>
              </a:spcAft>
            </a:pPr>
            <a:r>
              <a:rPr sz="1400" b="0">
                <a:solidFill>
                  <a:srgbClr val="5B6372"/>
                </a:solidFill>
                <a:latin typeface="Arial"/>
              </a:rPr>
              <a:t>–  Trainer and learner introductions · Learning outcomes · Course outline</a:t>
            </a:r>
          </a:p>
          <a:p>
            <a:pPr>
              <a:spcAft>
                <a:spcPts val="1000"/>
              </a:spcAft>
            </a:pPr>
            <a:r>
              <a:rPr sz="1400" b="0">
                <a:solidFill>
                  <a:srgbClr val="5B6372"/>
                </a:solidFill>
                <a:latin typeface="Arial"/>
              </a:rPr>
              <a:t>–  Topic 1: Understanding Financial Statements (Activity 1)</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2: Analysing Financial Ratios (Activities 2–3)</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Planning, Budgeting &amp; Final Assessment</a:t>
            </a:r>
          </a:p>
          <a:p>
            <a:pPr>
              <a:spcAft>
                <a:spcPts val="1000"/>
              </a:spcAft>
            </a:pPr>
            <a:r>
              <a:rPr sz="1400" b="0">
                <a:solidFill>
                  <a:srgbClr val="5B6372"/>
                </a:solidFill>
                <a:latin typeface="Arial"/>
              </a:rPr>
              <a:t>–  Digital Attendance (AM)</a:t>
            </a:r>
          </a:p>
          <a:p>
            <a:pPr>
              <a:spcAft>
                <a:spcPts val="1000"/>
              </a:spcAft>
            </a:pPr>
            <a:r>
              <a:rPr sz="1400" b="0">
                <a:solidFill>
                  <a:srgbClr val="5B6372"/>
                </a:solidFill>
                <a:latin typeface="Arial"/>
              </a:rPr>
              <a:t>–  Topic 3: Planning &amp; Budgeting using Financial Statements (Activities 4–6)</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Revision · Course feedback &amp; TRAQOM survey</a:t>
            </a:r>
          </a:p>
          <a:p>
            <a:pPr>
              <a:spcAft>
                <a:spcPts val="1000"/>
              </a:spcAft>
            </a:pPr>
            <a:r>
              <a:rPr sz="1400" b="0">
                <a:solidFill>
                  <a:srgbClr val="5B6372"/>
                </a:solidFill>
                <a:latin typeface="Arial"/>
              </a:rPr>
              <a:t>–  Digital Attendance (Assessment) · Final Assessment (WA + 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Skills Framework (TSC)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TSC Title · Code</a:t>
            </a:r>
          </a:p>
          <a:p>
            <a:pPr algn="l">
              <a:spcAft>
                <a:spcPts val="300"/>
              </a:spcAft>
            </a:pPr>
            <a:r>
              <a:rPr sz="1100" b="0">
                <a:solidFill>
                  <a:srgbClr val="5B6372"/>
                </a:solidFill>
                <a:latin typeface="Arial"/>
              </a:rPr>
              <a:t>Financial Analysis  ·  ACC-MAC-5004-1.1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K1–K2</a:t>
            </a:r>
          </a:p>
          <a:p>
            <a:pPr algn="l">
              <a:spcAft>
                <a:spcPts val="300"/>
              </a:spcAft>
            </a:pPr>
            <a:r>
              <a:rPr sz="1100" b="0">
                <a:solidFill>
                  <a:srgbClr val="5B6372"/>
                </a:solidFill>
                <a:latin typeface="Arial"/>
              </a:rPr>
              <a:t>Statement of financial position · Balance sheet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K3–K4</a:t>
            </a:r>
          </a:p>
          <a:p>
            <a:pPr algn="l">
              <a:spcAft>
                <a:spcPts val="300"/>
              </a:spcAft>
            </a:pPr>
            <a:r>
              <a:rPr sz="1100" b="0">
                <a:solidFill>
                  <a:srgbClr val="5B6372"/>
                </a:solidFill>
                <a:latin typeface="Arial"/>
              </a:rPr>
              <a:t>Income and cash flow statements · Statement of changes in equity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K5</a:t>
            </a:r>
          </a:p>
          <a:p>
            <a:pPr algn="l">
              <a:spcAft>
                <a:spcPts val="300"/>
              </a:spcAft>
            </a:pPr>
            <a:r>
              <a:rPr sz="1100" b="0">
                <a:solidFill>
                  <a:srgbClr val="5B6372"/>
                </a:solidFill>
                <a:latin typeface="Arial"/>
              </a:rPr>
              <a:t>Financial statement analysis techniques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Ability A1</a:t>
            </a:r>
          </a:p>
          <a:p>
            <a:pPr algn="l">
              <a:spcAft>
                <a:spcPts val="300"/>
              </a:spcAft>
            </a:pPr>
            <a:r>
              <a:rPr sz="1100" b="0">
                <a:solidFill>
                  <a:srgbClr val="5B6372"/>
                </a:solidFill>
                <a:latin typeface="Arial"/>
              </a:rPr>
              <a:t>Identify trends by comparing ratios across time periods and statement types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Ability A2</a:t>
            </a:r>
          </a:p>
          <a:p>
            <a:pPr algn="l">
              <a:spcAft>
                <a:spcPts val="300"/>
              </a:spcAft>
            </a:pPr>
            <a:r>
              <a:rPr sz="1100" b="0">
                <a:solidFill>
                  <a:srgbClr val="5B6372"/>
                </a:solidFill>
                <a:latin typeface="Arial"/>
              </a:rPr>
              <a:t>Prepare and interpret performance and position using financial statements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LO1 — Understand</a:t>
            </a:r>
          </a:p>
          <a:p>
            <a:pPr algn="l">
              <a:spcAft>
                <a:spcPts val="300"/>
              </a:spcAft>
            </a:pPr>
            <a:r>
              <a:rPr sz="1400" b="0">
                <a:solidFill>
                  <a:srgbClr val="5B6372"/>
                </a:solidFill>
                <a:latin typeface="Arial"/>
              </a:rPr>
              <a:t>Financial statements: the balance sheet, income statement and cash flow statement.</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LO2 — Evaluate</a:t>
            </a:r>
          </a:p>
          <a:p>
            <a:pPr algn="l">
              <a:spcAft>
                <a:spcPts val="300"/>
              </a:spcAft>
            </a:pPr>
            <a:r>
              <a:rPr sz="1400" b="0">
                <a:solidFill>
                  <a:srgbClr val="5B6372"/>
                </a:solidFill>
                <a:latin typeface="Arial"/>
              </a:rPr>
              <a:t>The organisation's financial performance from the trend of financial ratios.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LO3 — Analyze</a:t>
            </a:r>
          </a:p>
          <a:p>
            <a:pPr algn="l">
              <a:spcAft>
                <a:spcPts val="300"/>
              </a:spcAft>
            </a:pPr>
            <a:r>
              <a:rPr sz="1400" b="0">
                <a:solidFill>
                  <a:srgbClr val="5B6372"/>
                </a:solidFill>
                <a:latin typeface="Arial"/>
              </a:rPr>
              <a:t>Financial statements and prepare the organisation's position.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OUTLINE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Outline — 3 Topics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Topic 1 (K1–K3)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Overview of Finance and Chart of Accounts</a:t>
            </a:r>
          </a:p>
          <a:p>
            <a:pPr>
              <a:spcAft>
                <a:spcPts val="900"/>
              </a:spcAft>
            </a:pPr>
            <a:r>
              <a:rPr sz="1400" b="0">
                <a:solidFill>
                  <a:srgbClr val="161B26"/>
                </a:solidFill>
                <a:latin typeface="Arial"/>
              </a:rPr>
              <a:t>•  Balance Sheet Statement</a:t>
            </a:r>
          </a:p>
          <a:p>
            <a:pPr>
              <a:spcAft>
                <a:spcPts val="900"/>
              </a:spcAft>
            </a:pPr>
            <a:r>
              <a:rPr sz="1400" b="0">
                <a:solidFill>
                  <a:srgbClr val="161B26"/>
                </a:solidFill>
                <a:latin typeface="Arial"/>
              </a:rPr>
              <a:t>•  Profit and Loss (P&amp;L) Statement</a:t>
            </a:r>
          </a:p>
          <a:p>
            <a:pPr>
              <a:spcAft>
                <a:spcPts val="900"/>
              </a:spcAft>
            </a:pPr>
            <a:r>
              <a:rPr sz="1400" b="0">
                <a:solidFill>
                  <a:srgbClr val="161B26"/>
                </a:solidFill>
                <a:latin typeface="Arial"/>
              </a:rPr>
              <a:t>•  Cash Flow Statement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Topic 2 (K4, A1)</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Ratios for Corporate Profitability</a:t>
            </a:r>
          </a:p>
          <a:p>
            <a:pPr>
              <a:spcAft>
                <a:spcPts val="900"/>
              </a:spcAft>
            </a:pPr>
            <a:r>
              <a:rPr sz="1400" b="0">
                <a:solidFill>
                  <a:srgbClr val="161B26"/>
                </a:solidFill>
                <a:latin typeface="Arial"/>
              </a:rPr>
              <a:t>•  Ratios for Corporate Performance</a:t>
            </a:r>
          </a:p>
          <a:p>
            <a:pPr>
              <a:spcAft>
                <a:spcPts val="900"/>
              </a:spcAft>
            </a:pPr>
            <a:r>
              <a:rPr sz="1400" b="0">
                <a:solidFill>
                  <a:srgbClr val="161B26"/>
                </a:solidFill>
                <a:latin typeface="Arial"/>
              </a:rPr>
              <a:t>•  Equity Changes Statement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Topic 3 (K5, A2)</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Financial Statements</a:t>
            </a:r>
          </a:p>
          <a:p>
            <a:pPr>
              <a:spcAft>
                <a:spcPts val="900"/>
              </a:spcAft>
            </a:pPr>
            <a:r>
              <a:rPr sz="1400" b="0">
                <a:solidFill>
                  <a:srgbClr val="161B26"/>
                </a:solidFill>
                <a:latin typeface="Arial"/>
              </a:rPr>
              <a:t>•  Financial Planning</a:t>
            </a:r>
          </a:p>
          <a:p>
            <a:pPr>
              <a:spcAft>
                <a:spcPts val="900"/>
              </a:spcAft>
            </a:pPr>
            <a:r>
              <a:rPr sz="1400" b="0">
                <a:solidFill>
                  <a:srgbClr val="161B26"/>
                </a:solidFill>
                <a:latin typeface="Arial"/>
              </a:rPr>
              <a:t>•  Capital Budgeting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FUNDING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Minimum attendance rate of 75% based on the SSG Digital Attendance record.</a:t>
            </a:r>
          </a:p>
          <a:p>
            <a:pPr>
              <a:spcAft>
                <a:spcPts val="1000"/>
              </a:spcAft>
            </a:pPr>
            <a:r>
              <a:rPr sz="2000" b="0">
                <a:solidFill>
                  <a:srgbClr val="161B26"/>
                </a:solidFill>
                <a:latin typeface="Arial"/>
              </a:rPr>
              <a:t>•  Complete the assessment and be assessed as 'Competent'.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5" name="Rectangle 4"/>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Place phones and other materials under the table or on the floor.</a:t>
            </a:r>
          </a:p>
          <a:p>
            <a:pPr>
              <a:spcAft>
                <a:spcPts val="1000"/>
              </a:spcAft>
            </a:pPr>
            <a:r>
              <a:rPr sz="2000" b="0">
                <a:solidFill>
                  <a:srgbClr val="161B26"/>
                </a:solidFill>
                <a:latin typeface="Arial"/>
              </a:rPr>
              <a:t>•  No photos or recording of assessment scripts.</a:t>
            </a:r>
          </a:p>
          <a:p>
            <a:pPr>
              <a:spcAft>
                <a:spcPts val="1000"/>
              </a:spcAft>
            </a:pPr>
            <a:r>
              <a:rPr sz="2000" b="0">
                <a:solidFill>
                  <a:srgbClr val="161B26"/>
                </a:solidFill>
                <a:latin typeface="Arial"/>
              </a:rPr>
              <a:t>•  No discussion during the assessment.</a:t>
            </a:r>
          </a:p>
          <a:p>
            <a:pPr>
              <a:spcAft>
                <a:spcPts val="1000"/>
              </a:spcAft>
            </a:pPr>
            <a:r>
              <a:rPr sz="2000" b="0">
                <a:solidFill>
                  <a:srgbClr val="161B26"/>
                </a:solidFill>
                <a:latin typeface="Arial"/>
              </a:rPr>
              <a:t>•  Use a black/blue pen for hard-copy assessments.</a:t>
            </a:r>
          </a:p>
          <a:p>
            <a:pPr>
              <a:spcAft>
                <a:spcPts val="1000"/>
              </a:spcAft>
            </a:pPr>
            <a:r>
              <a:rPr sz="2000" b="0">
                <a:solidFill>
                  <a:srgbClr val="161B26"/>
                </a:solidFill>
                <a:latin typeface="Arial"/>
              </a:rPr>
              <a:t>•  No liquid paper or correction tape.</a:t>
            </a:r>
          </a:p>
          <a:p>
            <a:pPr>
              <a:spcAft>
                <a:spcPts val="1000"/>
              </a:spcAft>
            </a:pPr>
            <a:r>
              <a:rPr sz="2000" b="0">
                <a:solidFill>
                  <a:srgbClr val="161B26"/>
                </a:solidFill>
                <a:latin typeface="Arial"/>
              </a:rPr>
              <a:t>•  Assessment scripts are collected when the time is up.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(WA) — Short-Answer Questions (SAQ), 1 hour, open book.</a:t>
            </a:r>
          </a:p>
          <a:p>
            <a:pPr>
              <a:spcAft>
                <a:spcPts val="1000"/>
              </a:spcAft>
            </a:pPr>
            <a:r>
              <a:rPr sz="2000" b="0">
                <a:solidFill>
                  <a:srgbClr val="161B26"/>
                </a:solidFill>
                <a:latin typeface="Arial"/>
              </a:rPr>
              <a:t>•  Practical Performance (PP) — financial-analysis tasks on real statements, 1 hour, open book.</a:t>
            </a:r>
          </a:p>
          <a:p>
            <a:pPr>
              <a:spcAft>
                <a:spcPts val="1000"/>
              </a:spcAft>
            </a:pPr>
            <a:r>
              <a:rPr sz="2000" b="0">
                <a:solidFill>
                  <a:srgbClr val="161B26"/>
                </a:solidFill>
                <a:latin typeface="Arial"/>
              </a:rPr>
              <a:t>•  Format: Open Book — slides, Learner Guide and approved materials only.</a:t>
            </a:r>
          </a:p>
          <a:p>
            <a:pPr>
              <a:spcAft>
                <a:spcPts val="1000"/>
              </a:spcAft>
            </a:pPr>
            <a:r>
              <a:rPr sz="2000" b="0">
                <a:solidFill>
                  <a:srgbClr val="161B26"/>
                </a:solidFill>
                <a:latin typeface="Arial"/>
              </a:rPr>
              <a:t>•  A minimum of 75% attendance is required to be eligible for assessment and funding.</a:t>
            </a:r>
          </a:p>
          <a:p>
            <a:pPr>
              <a:spcAft>
                <a:spcPts val="1000"/>
              </a:spcAft>
            </a:pPr>
            <a:r>
              <a:rPr sz="2000" b="0">
                <a:solidFill>
                  <a:srgbClr val="161B26"/>
                </a:solidFill>
                <a:latin typeface="Arial"/>
              </a:rPr>
              <a:t>•  An appeal process is available if required.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Understanding Financial Statements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Overview of Finance and Chart of Accounts · Balance Sheet Statement · Profit and Loss (P&amp;L) Statement · Cash Flow Statement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K1 · K2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Understanding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Finance &amp; accounting</a:t>
            </a:r>
          </a:p>
          <a:p>
            <a:pPr algn="l">
              <a:spcAft>
                <a:spcPts val="300"/>
              </a:spcAft>
            </a:pPr>
            <a:r>
              <a:rPr sz="1200" b="0">
                <a:solidFill>
                  <a:srgbClr val="5B6372"/>
                </a:solidFill>
                <a:latin typeface="Arial"/>
              </a:rPr>
              <a:t>Why finance matters to every business decision — the language of the boardroom.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Chart of accounts</a:t>
            </a:r>
          </a:p>
          <a:p>
            <a:pPr algn="l">
              <a:spcAft>
                <a:spcPts val="300"/>
              </a:spcAft>
            </a:pPr>
            <a:r>
              <a:rPr sz="1200" b="0">
                <a:solidFill>
                  <a:srgbClr val="5B6372"/>
                </a:solidFill>
                <a:latin typeface="Arial"/>
              </a:rPr>
              <a:t>The general-ledger account structure that every transaction is recorded against.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Balance sheet</a:t>
            </a:r>
          </a:p>
          <a:p>
            <a:pPr algn="l">
              <a:spcAft>
                <a:spcPts val="300"/>
              </a:spcAft>
            </a:pPr>
            <a:r>
              <a:rPr sz="1200" b="0">
                <a:solidFill>
                  <a:srgbClr val="5B6372"/>
                </a:solidFill>
                <a:latin typeface="Arial"/>
              </a:rPr>
              <a:t>Assets = Liabilities + Equity — the statement of financial position at a point in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Income statement</a:t>
            </a:r>
          </a:p>
          <a:p>
            <a:pPr algn="l">
              <a:spcAft>
                <a:spcPts val="300"/>
              </a:spcAft>
            </a:pPr>
            <a:r>
              <a:rPr sz="1200" b="0">
                <a:solidFill>
                  <a:srgbClr val="5B6372"/>
                </a:solidFill>
                <a:latin typeface="Arial"/>
              </a:rPr>
              <a:t>Revenue − Expenses = Profit — financial performance over an accounting period.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Cash flow statement</a:t>
            </a:r>
          </a:p>
          <a:p>
            <a:pPr algn="l">
              <a:spcAft>
                <a:spcPts val="300"/>
              </a:spcAft>
            </a:pPr>
            <a:r>
              <a:rPr sz="1200" b="0">
                <a:solidFill>
                  <a:srgbClr val="5B6372"/>
                </a:solidFill>
                <a:latin typeface="Arial"/>
              </a:rPr>
              <a:t>Operating, investing and financing cash movements — where the cash actually went.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Double-entry system</a:t>
            </a:r>
          </a:p>
          <a:p>
            <a:pPr algn="l">
              <a:spcAft>
                <a:spcPts val="300"/>
              </a:spcAft>
            </a:pPr>
            <a:r>
              <a:rPr sz="1200" b="0">
                <a:solidFill>
                  <a:srgbClr val="5B6372"/>
                </a:solidFill>
                <a:latin typeface="Arial"/>
              </a:rPr>
              <a:t>Debits equal credits, so the accounting equation always balances.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BUSINESS FINANCE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Finance is attaining money, investing it, and gaining a return on investment.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Any business decision has financial impact — finance is the common language of the boardroom.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FINANCE MATTERS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Significance of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Any business decision has financial impact.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It is the common language used in board meetings.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more you understand finance, the more the insights.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Dealing with finance people becomes easy.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Relate finance to your own business unit.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Drive and achieve better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CORPORATE ORG STRUCTURE · FINANCE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Finance Business Unit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FP&amp;A</a:t>
            </a:r>
          </a:p>
          <a:p>
            <a:pPr algn="l">
              <a:spcAft>
                <a:spcPts val="300"/>
              </a:spcAft>
            </a:pPr>
            <a:r>
              <a:rPr sz="1100" b="0">
                <a:solidFill>
                  <a:srgbClr val="5B6372"/>
                </a:solidFill>
                <a:latin typeface="Arial"/>
              </a:rPr>
              <a:t>Budgeting, forecasting, actual vs variance, management reports.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Operations</a:t>
            </a:r>
          </a:p>
          <a:p>
            <a:pPr algn="l">
              <a:spcAft>
                <a:spcPts val="300"/>
              </a:spcAft>
            </a:pPr>
            <a:r>
              <a:rPr sz="1100" b="0">
                <a:solidFill>
                  <a:srgbClr val="5B6372"/>
                </a:solidFill>
                <a:latin typeface="Arial"/>
              </a:rPr>
              <a:t>Purchases and payables · expenses · sales and receivables.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Controls</a:t>
            </a:r>
          </a:p>
          <a:p>
            <a:pPr algn="l">
              <a:spcAft>
                <a:spcPts val="300"/>
              </a:spcAft>
            </a:pPr>
            <a:r>
              <a:rPr sz="1100" b="0">
                <a:solidFill>
                  <a:srgbClr val="5B6372"/>
                </a:solidFill>
                <a:latin typeface="Arial"/>
              </a:rPr>
              <a:t>Internal controls, audit, processes and policies.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Systems</a:t>
            </a:r>
          </a:p>
          <a:p>
            <a:pPr algn="l">
              <a:spcAft>
                <a:spcPts val="300"/>
              </a:spcAft>
            </a:pPr>
            <a:r>
              <a:rPr sz="1100" b="0">
                <a:solidFill>
                  <a:srgbClr val="5B6372"/>
                </a:solidFill>
                <a:latin typeface="Arial"/>
              </a:rPr>
              <a:t>Finance tools, transformation, ERP implementation, data &amp; BI.</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M&amp;A</a:t>
            </a:r>
          </a:p>
          <a:p>
            <a:pPr algn="l">
              <a:spcAft>
                <a:spcPts val="300"/>
              </a:spcAft>
            </a:pPr>
            <a:r>
              <a:rPr sz="1100" b="0">
                <a:solidFill>
                  <a:srgbClr val="5B6372"/>
                </a:solidFill>
                <a:latin typeface="Arial"/>
              </a:rPr>
              <a:t>Due diligence, checklists, M&amp;A budget, pre/post-integration.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 &amp; Treasury</a:t>
            </a:r>
          </a:p>
          <a:p>
            <a:pPr algn="l">
              <a:spcAft>
                <a:spcPts val="300"/>
              </a:spcAft>
            </a:pPr>
            <a:r>
              <a:rPr sz="1100" b="0">
                <a:solidFill>
                  <a:srgbClr val="5B6372"/>
                </a:solidFill>
                <a:latin typeface="Arial"/>
              </a:rPr>
              <a:t>Corporate tax, GST, tax audit and cash flow management.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LENDERS ↔ BORROWERS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Financial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Lenders &amp; regulators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Borrowers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Regulators &amp; institutions</a:t>
            </a:r>
          </a:p>
          <a:p>
            <a:pPr>
              <a:spcAft>
                <a:spcPts val="1000"/>
              </a:spcAft>
            </a:pPr>
            <a:r>
              <a:rPr sz="1400" b="0">
                <a:solidFill>
                  <a:srgbClr val="5B6372"/>
                </a:solidFill>
                <a:latin typeface="Arial"/>
              </a:rPr>
              <a:t>–  Ministry of Finance · ACRA · IRAS · SAC · CPF</a:t>
            </a:r>
          </a:p>
          <a:p>
            <a:pPr>
              <a:spcAft>
                <a:spcPts val="1000"/>
              </a:spcAft>
            </a:pPr>
            <a:r>
              <a:rPr sz="1400" b="0">
                <a:solidFill>
                  <a:srgbClr val="5B6372"/>
                </a:solidFill>
                <a:latin typeface="Arial"/>
              </a:rPr>
              <a:t>–  Banks · insurance companies · mutual funds · private equity funds</a:t>
            </a:r>
          </a:p>
          <a:p>
            <a:pPr>
              <a:spcAft>
                <a:spcPts val="1000"/>
              </a:spcAft>
            </a:pPr>
            <a:r>
              <a:rPr sz="1400" b="0">
                <a:solidFill>
                  <a:srgbClr val="5B6372"/>
                </a:solidFill>
                <a:latin typeface="Arial"/>
              </a:rPr>
              <a:t>–  Lenders provide capital to the system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Borrowers &amp; businesses</a:t>
            </a:r>
          </a:p>
          <a:p>
            <a:pPr>
              <a:spcAft>
                <a:spcPts val="1000"/>
              </a:spcAft>
            </a:pPr>
            <a:r>
              <a:rPr sz="1400" b="0">
                <a:solidFill>
                  <a:srgbClr val="5B6372"/>
                </a:solidFill>
                <a:latin typeface="Arial"/>
              </a:rPr>
              <a:t>–  Sole proprietorship · partnership / LLP</a:t>
            </a:r>
          </a:p>
          <a:p>
            <a:pPr>
              <a:spcAft>
                <a:spcPts val="1000"/>
              </a:spcAft>
            </a:pPr>
            <a:r>
              <a:rPr sz="1400" b="0">
                <a:solidFill>
                  <a:srgbClr val="5B6372"/>
                </a:solidFill>
                <a:latin typeface="Arial"/>
              </a:rPr>
              <a:t>–  Private company · public listed company</a:t>
            </a:r>
          </a:p>
          <a:p>
            <a:pPr>
              <a:spcAft>
                <a:spcPts val="1000"/>
              </a:spcAft>
            </a:pPr>
            <a:r>
              <a:rPr sz="1400" b="0">
                <a:solidFill>
                  <a:srgbClr val="5B6372"/>
                </a:solidFill>
                <a:latin typeface="Arial"/>
              </a:rPr>
              <a:t>–  Non-profit organisations · individuals · foreign companies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ACCOUNTING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Accounting — the Big Picture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Three questions</a:t>
            </a:r>
          </a:p>
          <a:p>
            <a:pPr algn="l">
              <a:spcAft>
                <a:spcPts val="300"/>
              </a:spcAft>
            </a:pPr>
            <a:r>
              <a:rPr sz="1200" b="0">
                <a:solidFill>
                  <a:srgbClr val="5B6372"/>
                </a:solidFill>
                <a:latin typeface="Arial"/>
              </a:rPr>
              <a:t>How much money do I need? How do I raise it? How do I manage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equation</a:t>
            </a:r>
          </a:p>
          <a:p>
            <a:pPr algn="l">
              <a:spcAft>
                <a:spcPts val="300"/>
              </a:spcAft>
            </a:pPr>
            <a:r>
              <a:rPr sz="1200" b="0">
                <a:solidFill>
                  <a:srgbClr val="5B6372"/>
                </a:solidFill>
                <a:latin typeface="Arial"/>
              </a:rPr>
              <a:t>Assets = Liabilities + Owner's Equity — always in balance.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mechanics</a:t>
            </a:r>
          </a:p>
          <a:p>
            <a:pPr algn="l">
              <a:spcAft>
                <a:spcPts val="300"/>
              </a:spcAft>
            </a:pPr>
            <a:r>
              <a:rPr sz="1200" b="0">
                <a:solidFill>
                  <a:srgbClr val="5B6372"/>
                </a:solidFill>
                <a:latin typeface="Arial"/>
              </a:rPr>
              <a:t>Double entry · transaction analysis · summary of transactions.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outputs</a:t>
            </a:r>
          </a:p>
          <a:p>
            <a:pPr algn="l">
              <a:spcAft>
                <a:spcPts val="300"/>
              </a:spcAft>
            </a:pPr>
            <a:r>
              <a:rPr sz="1200" b="0">
                <a:solidFill>
                  <a:srgbClr val="5B6372"/>
                </a:solidFill>
                <a:latin typeface="Arial"/>
              </a:rPr>
              <a:t>Income statement · owner's equity statement · balance sheet · statement of cash flows.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WE ACCOUNT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Objectives &amp; Advantages of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Objectives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Advantages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Objectives</a:t>
            </a:r>
          </a:p>
          <a:p>
            <a:pPr>
              <a:spcAft>
                <a:spcPts val="1000"/>
              </a:spcAft>
            </a:pPr>
            <a:r>
              <a:rPr sz="1400" b="0">
                <a:solidFill>
                  <a:srgbClr val="5B6372"/>
                </a:solidFill>
                <a:latin typeface="Arial"/>
              </a:rPr>
              <a:t>–  Maintain a systematic record of transactions</a:t>
            </a:r>
          </a:p>
          <a:p>
            <a:pPr>
              <a:spcAft>
                <a:spcPts val="1000"/>
              </a:spcAft>
            </a:pPr>
            <a:r>
              <a:rPr sz="1400" b="0">
                <a:solidFill>
                  <a:srgbClr val="5B6372"/>
                </a:solidFill>
                <a:latin typeface="Arial"/>
              </a:rPr>
              <a:t>–  Ascertain profit or loss and financial position</a:t>
            </a:r>
          </a:p>
          <a:p>
            <a:pPr>
              <a:spcAft>
                <a:spcPts val="1000"/>
              </a:spcAft>
            </a:pPr>
            <a:r>
              <a:rPr sz="1400" b="0">
                <a:solidFill>
                  <a:srgbClr val="5B6372"/>
                </a:solidFill>
                <a:latin typeface="Arial"/>
              </a:rPr>
              <a:t>–  Assist management and communicate information to users</a:t>
            </a:r>
          </a:p>
          <a:p>
            <a:pPr>
              <a:spcAft>
                <a:spcPts val="1000"/>
              </a:spcAft>
            </a:pPr>
            <a:r>
              <a:rPr sz="1400" b="0">
                <a:solidFill>
                  <a:srgbClr val="5B6372"/>
                </a:solidFill>
                <a:latin typeface="Arial"/>
              </a:rPr>
              <a:t>–  Prevent manipulation and fraud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Advantages</a:t>
            </a:r>
          </a:p>
          <a:p>
            <a:pPr>
              <a:spcAft>
                <a:spcPts val="1000"/>
              </a:spcAft>
            </a:pPr>
            <a:r>
              <a:rPr sz="1400" b="0">
                <a:solidFill>
                  <a:srgbClr val="5B6372"/>
                </a:solidFill>
                <a:latin typeface="Arial"/>
              </a:rPr>
              <a:t>–  Financial information about the business; replaces memory</a:t>
            </a:r>
          </a:p>
          <a:p>
            <a:pPr>
              <a:spcAft>
                <a:spcPts val="1000"/>
              </a:spcAft>
            </a:pPr>
            <a:r>
              <a:rPr sz="1400" b="0">
                <a:solidFill>
                  <a:srgbClr val="5B6372"/>
                </a:solidFill>
                <a:latin typeface="Arial"/>
              </a:rPr>
              <a:t>–  Facilitates benchmarking, tax settlement and loans</a:t>
            </a:r>
          </a:p>
          <a:p>
            <a:pPr>
              <a:spcAft>
                <a:spcPts val="1000"/>
              </a:spcAft>
            </a:pPr>
            <a:r>
              <a:rPr sz="1400" b="0">
                <a:solidFill>
                  <a:srgbClr val="5B6372"/>
                </a:solidFill>
                <a:latin typeface="Arial"/>
              </a:rPr>
              <a:t>–  Evidence in court; facilitates sale of the business</a:t>
            </a:r>
          </a:p>
          <a:p>
            <a:pPr>
              <a:spcAft>
                <a:spcPts val="1000"/>
              </a:spcAft>
            </a:pPr>
            <a:r>
              <a:rPr sz="1400" b="0">
                <a:solidFill>
                  <a:srgbClr val="5B6372"/>
                </a:solidFill>
                <a:latin typeface="Arial"/>
              </a:rPr>
              <a:t>–  Helps in decision making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ACCOUNTING TYPES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Financial accounting</a:t>
            </a:r>
          </a:p>
          <a:p>
            <a:pPr algn="l">
              <a:spcAft>
                <a:spcPts val="300"/>
              </a:spcAft>
            </a:pPr>
            <a:r>
              <a:rPr sz="1100" b="0">
                <a:solidFill>
                  <a:srgbClr val="5B6372"/>
                </a:solidFill>
                <a:latin typeface="Arial"/>
              </a:rPr>
              <a:t>Aggregates financial information into external reports — IFRS, GAAP.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 accounting</a:t>
            </a:r>
          </a:p>
          <a:p>
            <a:pPr algn="l">
              <a:spcAft>
                <a:spcPts val="300"/>
              </a:spcAft>
            </a:pPr>
            <a:r>
              <a:rPr sz="1100" b="0">
                <a:solidFill>
                  <a:srgbClr val="5B6372"/>
                </a:solidFill>
                <a:latin typeface="Arial"/>
              </a:rPr>
              <a:t>Internal operational reporting — cost accounting, payroll, payables.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 accounting</a:t>
            </a:r>
          </a:p>
          <a:p>
            <a:pPr algn="l">
              <a:spcAft>
                <a:spcPts val="300"/>
              </a:spcAft>
            </a:pPr>
            <a:r>
              <a:rPr sz="1100" b="0">
                <a:solidFill>
                  <a:srgbClr val="5B6372"/>
                </a:solidFill>
                <a:latin typeface="Arial"/>
              </a:rPr>
              <a:t>Compliance with tax regulations, filings and future tax planning.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Auditing</a:t>
            </a:r>
          </a:p>
          <a:p>
            <a:pPr algn="l">
              <a:spcAft>
                <a:spcPts val="300"/>
              </a:spcAft>
            </a:pPr>
            <a:r>
              <a:rPr sz="1100" b="0">
                <a:solidFill>
                  <a:srgbClr val="5B6372"/>
                </a:solidFill>
                <a:latin typeface="Arial"/>
              </a:rPr>
              <a:t>Assurance that financial statements fairly present results and position.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Forensic accounting</a:t>
            </a:r>
          </a:p>
          <a:p>
            <a:pPr algn="l">
              <a:spcAft>
                <a:spcPts val="300"/>
              </a:spcAft>
            </a:pPr>
            <a:r>
              <a:rPr sz="1100" b="0">
                <a:solidFill>
                  <a:srgbClr val="5B6372"/>
                </a:solidFill>
                <a:latin typeface="Arial"/>
              </a:rPr>
              <a:t>Reconstruction of financial information when records are incomplete.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Internal auditing</a:t>
            </a:r>
          </a:p>
          <a:p>
            <a:pPr algn="l">
              <a:spcAft>
                <a:spcPts val="300"/>
              </a:spcAft>
            </a:pPr>
            <a:r>
              <a:rPr sz="1100" b="0">
                <a:solidFill>
                  <a:srgbClr val="5B6372"/>
                </a:solidFill>
                <a:latin typeface="Arial"/>
              </a:rPr>
              <a:t>Examination of systems and transactions to spot weaknesses, fraud and waste.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TRANSACTION TO STATEMENTS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Accounting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counting-cycle.png"/>
          <p:cNvPicPr>
            <a:picLocks noChangeAspect="1"/>
          </p:cNvPicPr>
          <p:nvPr/>
        </p:nvPicPr>
        <p:blipFill>
          <a:blip r:embed="rId2"/>
          <a:stretch>
            <a:fillRect/>
          </a:stretch>
        </p:blipFill>
        <p:spPr>
          <a:xfrm>
            <a:off x="3850280" y="1783080"/>
            <a:ext cx="4491134"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Identify transactions → journal entries → ledger → trial balance → adjustments → financial statements → close.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TIMEFRAMES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Accounting Periods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 accounting period is the time span for which financial statements are prepared — e.g. a calendar year, a quarter or a month.</a:t>
            </a:r>
          </a:p>
          <a:p>
            <a:pPr>
              <a:spcAft>
                <a:spcPts val="1000"/>
              </a:spcAft>
            </a:pPr>
            <a:r>
              <a:rPr sz="1800" b="0">
                <a:solidFill>
                  <a:srgbClr val="161B26"/>
                </a:solidFill>
                <a:latin typeface="Arial"/>
              </a:rPr>
              <a:t>•  The income statement and cash flow statement report amounts occurring DURING the period.</a:t>
            </a:r>
          </a:p>
          <a:p>
            <a:pPr>
              <a:spcAft>
                <a:spcPts val="1000"/>
              </a:spcAft>
            </a:pPr>
            <a:r>
              <a:rPr sz="1800" b="0">
                <a:solidFill>
                  <a:srgbClr val="161B26"/>
                </a:solidFill>
                <a:latin typeface="Arial"/>
              </a:rPr>
              <a:t>•  The balance sheet reports assets and liabilities AS AT the final moment of the period.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LEDGER STRUCTURE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Chart of Accounts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0">
                <a:solidFill>
                  <a:srgbClr val="161B26"/>
                </a:solidFill>
                <a:latin typeface="Arial"/>
              </a:rPr>
              <a:t>•  A chart of accounts lists the account names a company uses to record transactions in its general ledger.</a:t>
            </a:r>
          </a:p>
          <a:p>
            <a:pPr>
              <a:spcAft>
                <a:spcPts val="1000"/>
              </a:spcAft>
            </a:pPr>
            <a:r>
              <a:rPr sz="1500" b="0">
                <a:solidFill>
                  <a:srgbClr val="161B26"/>
                </a:solidFill>
                <a:latin typeface="Arial"/>
              </a:rPr>
              <a:t>•  Typical numbering: assets, liabilities, equity, revenue and expenses.</a:t>
            </a:r>
          </a:p>
          <a:p>
            <a:pPr>
              <a:spcAft>
                <a:spcPts val="1000"/>
              </a:spcAft>
            </a:pPr>
            <a:r>
              <a:rPr sz="1500" b="0">
                <a:solidFill>
                  <a:srgbClr val="161B26"/>
                </a:solidFill>
                <a:latin typeface="Arial"/>
              </a:rPr>
              <a:t>•  Each account maps to either the balance sheet or the income statement.</a:t>
            </a:r>
          </a:p>
          <a:p>
            <a:pPr>
              <a:spcAft>
                <a:spcPts val="1000"/>
              </a:spcAft>
            </a:pPr>
            <a:r>
              <a:rPr sz="1500" b="0">
                <a:solidFill>
                  <a:srgbClr val="161B26"/>
                </a:solidFill>
                <a:latin typeface="Arial"/>
              </a:rPr>
              <a:t>•  Companies tailor the chart to their needs and add accounts as required.</a:t>
            </a:r>
          </a:p>
        </p:txBody>
      </p:sp>
      <p:pic>
        <p:nvPicPr>
          <p:cNvPr id="8" name="Picture 7" descr="chart-of-accounts.jpg"/>
          <p:cNvPicPr>
            <a:picLocks noChangeAspect="1"/>
          </p:cNvPicPr>
          <p:nvPr/>
        </p:nvPicPr>
        <p:blipFill>
          <a:blip r:embed="rId2"/>
          <a:stretch>
            <a:fillRect/>
          </a:stretch>
        </p:blipFill>
        <p:spPr>
          <a:xfrm>
            <a:off x="7375987" y="1828800"/>
            <a:ext cx="2987386"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RECORDING SYSTEMS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Single-Entry vs Double-Entry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Single entry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Double entry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Single entry</a:t>
            </a:r>
          </a:p>
          <a:p>
            <a:pPr>
              <a:spcAft>
                <a:spcPts val="1000"/>
              </a:spcAft>
            </a:pPr>
            <a:r>
              <a:rPr sz="1400" b="0">
                <a:solidFill>
                  <a:srgbClr val="5B6372"/>
                </a:solidFill>
                <a:latin typeface="Arial"/>
              </a:rPr>
              <a:t>–  One entry per transaction, centred on the income statement</a:t>
            </a:r>
          </a:p>
          <a:p>
            <a:pPr>
              <a:spcAft>
                <a:spcPts val="1000"/>
              </a:spcAft>
            </a:pPr>
            <a:r>
              <a:rPr sz="1400" b="0">
                <a:solidFill>
                  <a:srgbClr val="5B6372"/>
                </a:solidFill>
                <a:latin typeface="Arial"/>
              </a:rPr>
              <a:t>–  Tracks cash receipts and disbursements — the cash book</a:t>
            </a:r>
          </a:p>
          <a:p>
            <a:pPr>
              <a:spcAft>
                <a:spcPts val="1000"/>
              </a:spcAft>
            </a:pPr>
            <a:r>
              <a:rPr sz="1400" b="0">
                <a:solidFill>
                  <a:srgbClr val="5B6372"/>
                </a:solidFill>
                <a:latin typeface="Arial"/>
              </a:rPr>
              <a:t>–  Assets and liabilities are not tracked systematically</a:t>
            </a:r>
          </a:p>
          <a:p>
            <a:pPr>
              <a:spcAft>
                <a:spcPts val="1000"/>
              </a:spcAft>
            </a:pPr>
            <a:r>
              <a:rPr sz="1400" b="0">
                <a:solidFill>
                  <a:srgbClr val="5B6372"/>
                </a:solidFill>
                <a:latin typeface="Arial"/>
              </a:rPr>
              <a:t>–  Suitable only for the simplest businesses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Double entry</a:t>
            </a:r>
          </a:p>
          <a:p>
            <a:pPr>
              <a:spcAft>
                <a:spcPts val="1000"/>
              </a:spcAft>
            </a:pPr>
            <a:r>
              <a:rPr sz="1400" b="0">
                <a:solidFill>
                  <a:srgbClr val="5B6372"/>
                </a:solidFill>
                <a:latin typeface="Arial"/>
              </a:rPr>
              <a:t>–  Every transaction hits at least two accounts</a:t>
            </a:r>
          </a:p>
          <a:p>
            <a:pPr>
              <a:spcAft>
                <a:spcPts val="1000"/>
              </a:spcAft>
            </a:pPr>
            <a:r>
              <a:rPr sz="1400" b="0">
                <a:solidFill>
                  <a:srgbClr val="5B6372"/>
                </a:solidFill>
                <a:latin typeface="Arial"/>
              </a:rPr>
              <a:t>–  Debits always equal credits</a:t>
            </a:r>
          </a:p>
          <a:p>
            <a:pPr>
              <a:spcAft>
                <a:spcPts val="1000"/>
              </a:spcAft>
            </a:pPr>
            <a:r>
              <a:rPr sz="1400" b="0">
                <a:solidFill>
                  <a:srgbClr val="5B6372"/>
                </a:solidFill>
                <a:latin typeface="Arial"/>
              </a:rPr>
              <a:t>–  The accounting equation stays in balance</a:t>
            </a:r>
          </a:p>
          <a:p>
            <a:pPr>
              <a:spcAft>
                <a:spcPts val="1000"/>
              </a:spcAft>
            </a:pPr>
            <a:r>
              <a:rPr sz="1400" b="0">
                <a:solidFill>
                  <a:srgbClr val="5B6372"/>
                </a:solidFill>
                <a:latin typeface="Arial"/>
              </a:rPr>
              <a:t>–  The standard for every modern accounting system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WHICH SIDE INCREASES?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Double-Entry Rules — Debits &amp; Credits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ebit-credit-rules.jpg"/>
          <p:cNvPicPr>
            <a:picLocks noChangeAspect="1"/>
          </p:cNvPicPr>
          <p:nvPr/>
        </p:nvPicPr>
        <p:blipFill>
          <a:blip r:embed="rId2"/>
          <a:stretch>
            <a:fillRect/>
          </a:stretch>
        </p:blipFill>
        <p:spPr>
          <a:xfrm>
            <a:off x="792327" y="1853198"/>
            <a:ext cx="10607040" cy="4203163"/>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Assets and expenses increase with debits; liabilities, equity and revenue increase with credits.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GENERAL JOURNAL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Double-Entry Bookkeeping — Journal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uble-entry-journal.png"/>
          <p:cNvPicPr>
            <a:picLocks noChangeAspect="1"/>
          </p:cNvPicPr>
          <p:nvPr/>
        </p:nvPicPr>
        <p:blipFill>
          <a:blip r:embed="rId2"/>
          <a:stretch>
            <a:fillRect/>
          </a:stretch>
        </p:blipFill>
        <p:spPr>
          <a:xfrm>
            <a:off x="1752447" y="1783080"/>
            <a:ext cx="8686800"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A $10,000 cash sale: debit Cash (A/C 301), credit Sales (A/C 401).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RECORDING DISCIPLINE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Bookkeeping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Bookkeeping is the systematic gathering and recording of a company's financial transactions.</a:t>
            </a:r>
          </a:p>
          <a:p>
            <a:pPr>
              <a:spcAft>
                <a:spcPts val="1000"/>
              </a:spcAft>
            </a:pPr>
            <a:r>
              <a:rPr sz="1700" b="0">
                <a:solidFill>
                  <a:srgbClr val="161B26"/>
                </a:solidFill>
                <a:latin typeface="Arial"/>
              </a:rPr>
              <a:t>•  Transactions are identified, approved, sorted and stored so they can be retrieved and presented in reports.</a:t>
            </a:r>
          </a:p>
          <a:p>
            <a:pPr>
              <a:spcAft>
                <a:spcPts val="1000"/>
              </a:spcAft>
            </a:pPr>
            <a:r>
              <a:rPr sz="1700" b="0">
                <a:solidFill>
                  <a:srgbClr val="161B26"/>
                </a:solidFill>
                <a:latin typeface="Arial"/>
              </a:rPr>
              <a:t>•  Examples: purchase of supplies with cash · purchase/sale of merchandise on credit · rent · salaries and wages · buying equipment · borrowing from a bank.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FINANCIAL REPORTS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Three Key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Balance Sheet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Statement of financial position</a:t>
            </a:r>
          </a:p>
          <a:p>
            <a:pPr>
              <a:spcAft>
                <a:spcPts val="900"/>
              </a:spcAft>
            </a:pPr>
            <a:r>
              <a:rPr sz="1400" b="0">
                <a:solidFill>
                  <a:srgbClr val="161B26"/>
                </a:solidFill>
                <a:latin typeface="Arial"/>
              </a:rPr>
              <a:t>•  Assets = Liabilities + Equity</a:t>
            </a:r>
          </a:p>
          <a:p>
            <a:pPr>
              <a:spcAft>
                <a:spcPts val="900"/>
              </a:spcAft>
            </a:pPr>
            <a:r>
              <a:rPr sz="1400" b="0">
                <a:solidFill>
                  <a:srgbClr val="161B26"/>
                </a:solidFill>
                <a:latin typeface="Arial"/>
              </a:rPr>
              <a:t>•  Liquidity and net worth</a:t>
            </a:r>
          </a:p>
          <a:p>
            <a:pPr>
              <a:spcAft>
                <a:spcPts val="900"/>
              </a:spcAft>
            </a:pPr>
            <a:r>
              <a:rPr sz="1400" b="0">
                <a:solidFill>
                  <a:srgbClr val="161B26"/>
                </a:solidFill>
                <a:latin typeface="Arial"/>
              </a:rPr>
              <a:t>•  A snapshot AS AT a date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Income Statement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Profit &amp; Loss statement</a:t>
            </a:r>
          </a:p>
          <a:p>
            <a:pPr>
              <a:spcAft>
                <a:spcPts val="900"/>
              </a:spcAft>
            </a:pPr>
            <a:r>
              <a:rPr sz="1400" b="0">
                <a:solidFill>
                  <a:srgbClr val="161B26"/>
                </a:solidFill>
                <a:latin typeface="Arial"/>
              </a:rPr>
              <a:t>•  Profits = Revenues − Expenses</a:t>
            </a:r>
          </a:p>
          <a:p>
            <a:pPr>
              <a:spcAft>
                <a:spcPts val="900"/>
              </a:spcAft>
            </a:pPr>
            <a:r>
              <a:rPr sz="1400" b="0">
                <a:solidFill>
                  <a:srgbClr val="161B26"/>
                </a:solidFill>
                <a:latin typeface="Arial"/>
              </a:rPr>
              <a:t>•  Profitability over a period</a:t>
            </a:r>
          </a:p>
          <a:p>
            <a:pPr>
              <a:spcAft>
                <a:spcPts val="900"/>
              </a:spcAft>
            </a:pPr>
            <a:r>
              <a:rPr sz="1400" b="0">
                <a:solidFill>
                  <a:srgbClr val="161B26"/>
                </a:solidFill>
                <a:latin typeface="Arial"/>
              </a:rPr>
              <a:t>•  Top line to bottom line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Cash Flow Statement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Movement of cash in the business</a:t>
            </a:r>
          </a:p>
          <a:p>
            <a:pPr>
              <a:spcAft>
                <a:spcPts val="900"/>
              </a:spcAft>
            </a:pPr>
            <a:r>
              <a:rPr sz="1400" b="0">
                <a:solidFill>
                  <a:srgbClr val="161B26"/>
                </a:solidFill>
                <a:latin typeface="Arial"/>
              </a:rPr>
              <a:t>•  Operating · investing · financing</a:t>
            </a:r>
          </a:p>
          <a:p>
            <a:pPr>
              <a:spcAft>
                <a:spcPts val="900"/>
              </a:spcAft>
            </a:pPr>
            <a:r>
              <a:rPr sz="1400" b="0">
                <a:solidFill>
                  <a:srgbClr val="161B26"/>
                </a:solidFill>
                <a:latin typeface="Arial"/>
              </a:rPr>
              <a:t>•  Where cash came from and went</a:t>
            </a:r>
          </a:p>
          <a:p>
            <a:pPr>
              <a:spcAft>
                <a:spcPts val="900"/>
              </a:spcAft>
            </a:pPr>
            <a:r>
              <a:rPr sz="1400" b="0">
                <a:solidFill>
                  <a:srgbClr val="161B26"/>
                </a:solidFill>
                <a:latin typeface="Arial"/>
              </a:rPr>
              <a:t>•  Reconciles to the cash balance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READS THE NUMBERS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Users of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a:t>
            </a:r>
          </a:p>
          <a:p>
            <a:pPr algn="l">
              <a:spcAft>
                <a:spcPts val="300"/>
              </a:spcAft>
            </a:pPr>
            <a:r>
              <a:rPr sz="1100" b="0">
                <a:solidFill>
                  <a:srgbClr val="5B6372"/>
                </a:solidFill>
                <a:latin typeface="Arial"/>
              </a:rPr>
              <a:t>Run the business — plans, budgets and performance reviews.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Investors &amp; owners</a:t>
            </a:r>
          </a:p>
          <a:p>
            <a:pPr algn="l">
              <a:spcAft>
                <a:spcPts val="300"/>
              </a:spcAft>
            </a:pPr>
            <a:r>
              <a:rPr sz="1100" b="0">
                <a:solidFill>
                  <a:srgbClr val="5B6372"/>
                </a:solidFill>
                <a:latin typeface="Arial"/>
              </a:rPr>
              <a:t>Assess returns, growth and the safety of their capital.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Lenders &amp; creditors</a:t>
            </a:r>
          </a:p>
          <a:p>
            <a:pPr algn="l">
              <a:spcAft>
                <a:spcPts val="300"/>
              </a:spcAft>
            </a:pPr>
            <a:r>
              <a:rPr sz="1100" b="0">
                <a:solidFill>
                  <a:srgbClr val="5B6372"/>
                </a:solidFill>
                <a:latin typeface="Arial"/>
              </a:rPr>
              <a:t>Judge the ability to repay loans and trade credit.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Regulators &amp; tax authorities</a:t>
            </a:r>
          </a:p>
          <a:p>
            <a:pPr algn="l">
              <a:spcAft>
                <a:spcPts val="300"/>
              </a:spcAft>
            </a:pPr>
            <a:r>
              <a:rPr sz="1100" b="0">
                <a:solidFill>
                  <a:srgbClr val="5B6372"/>
                </a:solidFill>
                <a:latin typeface="Arial"/>
              </a:rPr>
              <a:t>Compliance — ACRA filings, IRAS tax computations.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Suppliers &amp; customers</a:t>
            </a:r>
          </a:p>
          <a:p>
            <a:pPr algn="l">
              <a:spcAft>
                <a:spcPts val="300"/>
              </a:spcAft>
            </a:pPr>
            <a:r>
              <a:rPr sz="1100" b="0">
                <a:solidFill>
                  <a:srgbClr val="5B6372"/>
                </a:solidFill>
                <a:latin typeface="Arial"/>
              </a:rPr>
              <a:t>Decide whether to extend credit or rely on the firm.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Employees</a:t>
            </a:r>
          </a:p>
          <a:p>
            <a:pPr algn="l">
              <a:spcAft>
                <a:spcPts val="300"/>
              </a:spcAft>
            </a:pPr>
            <a:r>
              <a:rPr sz="1100" b="0">
                <a:solidFill>
                  <a:srgbClr val="5B6372"/>
                </a:solidFill>
                <a:latin typeface="Arial"/>
              </a:rPr>
              <a:t>Job security, bonuses and profit-sharing.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BALANCE SHEET · THE FUNDAMENTAL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Assets = Liabilities + Owners' Equity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balance sheet shows what the business owns (utilisation of funds) against what it owes and what the owners put in (sources of funds).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ASSETS = LIABILITIES + EQUITY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Accounting Equation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counting-equation.png"/>
          <p:cNvPicPr>
            <a:picLocks noChangeAspect="1"/>
          </p:cNvPicPr>
          <p:nvPr/>
        </p:nvPicPr>
        <p:blipFill>
          <a:blip r:embed="rId2"/>
          <a:stretch>
            <a:fillRect/>
          </a:stretch>
        </p:blipFill>
        <p:spPr>
          <a:xfrm>
            <a:off x="4607350" y="1783080"/>
            <a:ext cx="2976995"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Assets are what I own; liabilities are what I owe; equity is what is left for the owners.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Balance Sheet — Definitions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Assets</a:t>
            </a:r>
          </a:p>
          <a:p>
            <a:pPr algn="l">
              <a:spcAft>
                <a:spcPts val="300"/>
              </a:spcAft>
            </a:pPr>
            <a:r>
              <a:rPr sz="1200" b="0">
                <a:solidFill>
                  <a:srgbClr val="5B6372"/>
                </a:solidFill>
                <a:latin typeface="Arial"/>
              </a:rPr>
              <a:t>Resources that will provide a benefit in the future — utilisation of funds.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Liabilities</a:t>
            </a:r>
          </a:p>
          <a:p>
            <a:pPr algn="l">
              <a:spcAft>
                <a:spcPts val="300"/>
              </a:spcAft>
            </a:pPr>
            <a:r>
              <a:rPr sz="1200" b="0">
                <a:solidFill>
                  <a:srgbClr val="5B6372"/>
                </a:solidFill>
                <a:latin typeface="Arial"/>
              </a:rPr>
              <a:t>Obligations to repay money or provide a service in the future.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Owners' Equity</a:t>
            </a:r>
          </a:p>
          <a:p>
            <a:pPr algn="l">
              <a:spcAft>
                <a:spcPts val="300"/>
              </a:spcAft>
            </a:pPr>
            <a:r>
              <a:rPr sz="1200" b="0">
                <a:solidFill>
                  <a:srgbClr val="5B6372"/>
                </a:solidFill>
                <a:latin typeface="Arial"/>
              </a:rPr>
              <a:t>Money provided to the company by the owners.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Retained Earnings</a:t>
            </a:r>
          </a:p>
          <a:p>
            <a:pPr algn="l">
              <a:spcAft>
                <a:spcPts val="300"/>
              </a:spcAft>
            </a:pPr>
            <a:r>
              <a:rPr sz="1200" b="0">
                <a:solidFill>
                  <a:srgbClr val="5B6372"/>
                </a:solidFill>
                <a:latin typeface="Arial"/>
              </a:rPr>
              <a:t>Net income that is re-invested in the business.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STRUCTURE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Balance Sheet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Assets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Liabilities &amp; Equity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Assets</a:t>
            </a:r>
          </a:p>
          <a:p>
            <a:pPr>
              <a:spcAft>
                <a:spcPts val="1000"/>
              </a:spcAft>
            </a:pPr>
            <a:r>
              <a:rPr sz="1400" b="0">
                <a:solidFill>
                  <a:srgbClr val="5B6372"/>
                </a:solidFill>
                <a:latin typeface="Arial"/>
              </a:rPr>
              <a:t>–  Current assets: cash &amp; equivalents, receivables, inventories, marketable securities</a:t>
            </a:r>
          </a:p>
          <a:p>
            <a:pPr>
              <a:spcAft>
                <a:spcPts val="1000"/>
              </a:spcAft>
            </a:pPr>
            <a:r>
              <a:rPr sz="1400" b="0">
                <a:solidFill>
                  <a:srgbClr val="5B6372"/>
                </a:solidFill>
                <a:latin typeface="Arial"/>
              </a:rPr>
              <a:t>–  Long-term assets: plant, property &amp; equipment (PP&amp;E), intangible assets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Liabilities &amp; Equity</a:t>
            </a:r>
          </a:p>
          <a:p>
            <a:pPr>
              <a:spcAft>
                <a:spcPts val="1000"/>
              </a:spcAft>
            </a:pPr>
            <a:r>
              <a:rPr sz="1400" b="0">
                <a:solidFill>
                  <a:srgbClr val="5B6372"/>
                </a:solidFill>
                <a:latin typeface="Arial"/>
              </a:rPr>
              <a:t>–  Current liabilities: accounts payable, current debt, current portion of LT debt</a:t>
            </a:r>
          </a:p>
          <a:p>
            <a:pPr>
              <a:spcAft>
                <a:spcPts val="1000"/>
              </a:spcAft>
            </a:pPr>
            <a:r>
              <a:rPr sz="1400" b="0">
                <a:solidFill>
                  <a:srgbClr val="5B6372"/>
                </a:solidFill>
                <a:latin typeface="Arial"/>
              </a:rPr>
              <a:t>–  Long-term liabilities: bonds payable, long-term debt</a:t>
            </a:r>
          </a:p>
          <a:p>
            <a:pPr>
              <a:spcAft>
                <a:spcPts val="1000"/>
              </a:spcAft>
            </a:pPr>
            <a:r>
              <a:rPr sz="1400" b="0">
                <a:solidFill>
                  <a:srgbClr val="5B6372"/>
                </a:solidFill>
                <a:latin typeface="Arial"/>
              </a:rPr>
              <a:t>–  Shareholders' equity: share capital + retained earnings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XYZ COMPANY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Balance Sheet —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alance-sheet-example.png"/>
          <p:cNvPicPr>
            <a:picLocks noChangeAspect="1"/>
          </p:cNvPicPr>
          <p:nvPr/>
        </p:nvPicPr>
        <p:blipFill>
          <a:blip r:embed="rId2"/>
          <a:stretch>
            <a:fillRect/>
          </a:stretch>
        </p:blipFill>
        <p:spPr>
          <a:xfrm>
            <a:off x="4813789" y="1783080"/>
            <a:ext cx="2564117"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Current and long-term assets vs current and long-term liabilities and owners' equity.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READ WITH CARE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Balance Sheet — Limitations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balance sheet is a static document — it depicts assets and liabilities 'as on date X' only.</a:t>
            </a:r>
          </a:p>
          <a:p>
            <a:pPr>
              <a:spcAft>
                <a:spcPts val="1000"/>
              </a:spcAft>
            </a:pPr>
            <a:r>
              <a:rPr sz="1800" b="0">
                <a:solidFill>
                  <a:srgbClr val="161B26"/>
                </a:solidFill>
                <a:latin typeface="Arial"/>
              </a:rPr>
              <a:t>•  Assets are expressed at book value (historic cost less depreciation), which may differ from market value.</a:t>
            </a:r>
          </a:p>
          <a:p>
            <a:pPr>
              <a:spcAft>
                <a:spcPts val="1000"/>
              </a:spcAft>
            </a:pPr>
            <a:r>
              <a:rPr sz="1800" b="0">
                <a:solidFill>
                  <a:srgbClr val="161B26"/>
                </a:solidFill>
                <a:latin typeface="Arial"/>
              </a:rPr>
              <a:t>•  Not all assets appear — e.g. internally-generated intangibles such as patents and a skilled workforce.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LIQUID · QUICK TO CONVERT TO CASH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Current Assets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Cash &amp; equivalents</a:t>
            </a:r>
          </a:p>
          <a:p>
            <a:pPr algn="l">
              <a:spcAft>
                <a:spcPts val="300"/>
              </a:spcAft>
            </a:pPr>
            <a:r>
              <a:rPr sz="1100" b="0">
                <a:solidFill>
                  <a:srgbClr val="5B6372"/>
                </a:solidFill>
                <a:latin typeface="Arial"/>
              </a:rPr>
              <a:t>Legal tender, bills, coins, cheques; banker's acceptances, commercial paper, securities maturing &lt; 90 days.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Accounts receivable</a:t>
            </a:r>
          </a:p>
          <a:p>
            <a:pPr algn="l">
              <a:spcAft>
                <a:spcPts val="300"/>
              </a:spcAft>
            </a:pPr>
            <a:r>
              <a:rPr sz="1100" b="0">
                <a:solidFill>
                  <a:srgbClr val="5B6372"/>
                </a:solidFill>
                <a:latin typeface="Arial"/>
              </a:rPr>
              <a:t>Funds owed by customers — recorded once goods or services are delivered.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Inventories</a:t>
            </a:r>
          </a:p>
          <a:p>
            <a:pPr algn="l">
              <a:spcAft>
                <a:spcPts val="300"/>
              </a:spcAft>
            </a:pPr>
            <a:r>
              <a:rPr sz="1100" b="0">
                <a:solidFill>
                  <a:srgbClr val="5B6372"/>
                </a:solidFill>
                <a:latin typeface="Arial"/>
              </a:rPr>
              <a:t>Raw materials, work-in-progress and finished goods held for sale.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Marketable securities</a:t>
            </a:r>
          </a:p>
          <a:p>
            <a:pPr algn="l">
              <a:spcAft>
                <a:spcPts val="300"/>
              </a:spcAft>
            </a:pPr>
            <a:r>
              <a:rPr sz="1100" b="0">
                <a:solidFill>
                  <a:srgbClr val="5B6372"/>
                </a:solidFill>
                <a:latin typeface="Arial"/>
              </a:rPr>
              <a:t>Common stock, treasury bills and bonds maturing within one year.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NON-CURRENT ASSETS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Long-Term Assets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PP&amp;E</a:t>
            </a:r>
          </a:p>
          <a:p>
            <a:pPr algn="l">
              <a:spcAft>
                <a:spcPts val="300"/>
              </a:spcAft>
            </a:pPr>
            <a:r>
              <a:rPr sz="1100" b="0">
                <a:solidFill>
                  <a:srgbClr val="5B6372"/>
                </a:solidFill>
                <a:latin typeface="Arial"/>
              </a:rPr>
              <a:t>Plant, property and equipment — the tangible productive base of the business.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Depreciation</a:t>
            </a:r>
          </a:p>
          <a:p>
            <a:pPr algn="l">
              <a:spcAft>
                <a:spcPts val="300"/>
              </a:spcAft>
            </a:pPr>
            <a:r>
              <a:rPr sz="1100" b="0">
                <a:solidFill>
                  <a:srgbClr val="5B6372"/>
                </a:solidFill>
                <a:latin typeface="Arial"/>
              </a:rPr>
              <a:t>Spreads the asset's cost over time to match the income it produces; the method chosen affects results.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Intangible assets</a:t>
            </a:r>
          </a:p>
          <a:p>
            <a:pPr algn="l">
              <a:spcAft>
                <a:spcPts val="300"/>
              </a:spcAft>
            </a:pPr>
            <a:r>
              <a:rPr sz="1100" b="0">
                <a:solidFill>
                  <a:srgbClr val="5B6372"/>
                </a:solidFill>
                <a:latin typeface="Arial"/>
              </a:rPr>
              <a:t>Patents, trademarks, goodwill — non-physical assets with economic value.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Working capital</a:t>
            </a:r>
          </a:p>
          <a:p>
            <a:pPr algn="l">
              <a:spcAft>
                <a:spcPts val="300"/>
              </a:spcAft>
            </a:pPr>
            <a:r>
              <a:rPr sz="1100" b="0">
                <a:solidFill>
                  <a:srgbClr val="5B6372"/>
                </a:solidFill>
                <a:latin typeface="Arial"/>
              </a:rPr>
              <a:t>Current assets − current liabilities: the funds available to run daily operations.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DEPRECIATION OF PP&amp;E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Four Depreciation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8983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898398"/>
          </a:xfrm>
          <a:prstGeom prst="rect">
            <a:avLst/>
          </a:prstGeom>
          <a:noFill/>
        </p:spPr>
        <p:txBody>
          <a:bodyPr wrap="square" anchor="ctr">
            <a:spAutoFit/>
          </a:bodyPr>
          <a:lstStyle/>
          <a:p>
            <a:pPr algn="l">
              <a:spcAft>
                <a:spcPts val="400"/>
              </a:spcAft>
            </a:pPr>
            <a:r>
              <a:rPr sz="1500" b="1">
                <a:solidFill>
                  <a:srgbClr val="1F6FEB"/>
                </a:solidFill>
                <a:latin typeface="Arial"/>
              </a:rPr>
              <a:t>Straight line</a:t>
            </a:r>
          </a:p>
        </p:txBody>
      </p:sp>
      <p:sp>
        <p:nvSpPr>
          <p:cNvPr id="10" name="TextBox 9"/>
          <p:cNvSpPr txBox="1"/>
          <p:nvPr/>
        </p:nvSpPr>
        <p:spPr>
          <a:xfrm>
            <a:off x="4480560" y="1828800"/>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(Cost − Salvage) / Useful life</a:t>
            </a:r>
          </a:p>
        </p:txBody>
      </p:sp>
      <p:sp>
        <p:nvSpPr>
          <p:cNvPr id="11" name="TextBox 10"/>
          <p:cNvSpPr txBox="1"/>
          <p:nvPr/>
        </p:nvSpPr>
        <p:spPr>
          <a:xfrm>
            <a:off x="8641080" y="1828800"/>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$50,000 over 10 years → $5,000/yr</a:t>
            </a:r>
          </a:p>
        </p:txBody>
      </p:sp>
      <p:sp>
        <p:nvSpPr>
          <p:cNvPr id="12" name="Rectangle 11"/>
          <p:cNvSpPr/>
          <p:nvPr/>
        </p:nvSpPr>
        <p:spPr>
          <a:xfrm>
            <a:off x="777240" y="2946654"/>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46654"/>
            <a:ext cx="91440" cy="8983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46654"/>
            <a:ext cx="3291840" cy="898398"/>
          </a:xfrm>
          <a:prstGeom prst="rect">
            <a:avLst/>
          </a:prstGeom>
          <a:noFill/>
        </p:spPr>
        <p:txBody>
          <a:bodyPr wrap="square" anchor="ctr">
            <a:spAutoFit/>
          </a:bodyPr>
          <a:lstStyle/>
          <a:p>
            <a:pPr algn="l">
              <a:spcAft>
                <a:spcPts val="400"/>
              </a:spcAft>
            </a:pPr>
            <a:r>
              <a:rPr sz="1500" b="1">
                <a:solidFill>
                  <a:srgbClr val="10B981"/>
                </a:solidFill>
                <a:latin typeface="Arial"/>
              </a:rPr>
              <a:t>Double declining</a:t>
            </a:r>
          </a:p>
        </p:txBody>
      </p:sp>
      <p:sp>
        <p:nvSpPr>
          <p:cNvPr id="15" name="TextBox 14"/>
          <p:cNvSpPr txBox="1"/>
          <p:nvPr/>
        </p:nvSpPr>
        <p:spPr>
          <a:xfrm>
            <a:off x="4480560" y="2946654"/>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2 × SL rate × Book value</a:t>
            </a:r>
          </a:p>
        </p:txBody>
      </p:sp>
      <p:sp>
        <p:nvSpPr>
          <p:cNvPr id="16" name="TextBox 15"/>
          <p:cNvSpPr txBox="1"/>
          <p:nvPr/>
        </p:nvSpPr>
        <p:spPr>
          <a:xfrm>
            <a:off x="8641080" y="2946654"/>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Higher expense in early years</a:t>
            </a:r>
          </a:p>
        </p:txBody>
      </p:sp>
      <p:sp>
        <p:nvSpPr>
          <p:cNvPr id="17" name="Rectangle 16"/>
          <p:cNvSpPr/>
          <p:nvPr/>
        </p:nvSpPr>
        <p:spPr>
          <a:xfrm>
            <a:off x="777240" y="4064508"/>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8983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064508"/>
            <a:ext cx="3291840" cy="898398"/>
          </a:xfrm>
          <a:prstGeom prst="rect">
            <a:avLst/>
          </a:prstGeom>
          <a:noFill/>
        </p:spPr>
        <p:txBody>
          <a:bodyPr wrap="square" anchor="ctr">
            <a:spAutoFit/>
          </a:bodyPr>
          <a:lstStyle/>
          <a:p>
            <a:pPr algn="l">
              <a:spcAft>
                <a:spcPts val="400"/>
              </a:spcAft>
            </a:pPr>
            <a:r>
              <a:rPr sz="1500" b="1">
                <a:solidFill>
                  <a:srgbClr val="7C3AED"/>
                </a:solidFill>
                <a:latin typeface="Arial"/>
              </a:rPr>
              <a:t>Units of production</a:t>
            </a:r>
          </a:p>
        </p:txBody>
      </p:sp>
      <p:sp>
        <p:nvSpPr>
          <p:cNvPr id="20" name="TextBox 19"/>
          <p:cNvSpPr txBox="1"/>
          <p:nvPr/>
        </p:nvSpPr>
        <p:spPr>
          <a:xfrm>
            <a:off x="4480560" y="4064508"/>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(Units / Life units) × (Cost − Salvage)</a:t>
            </a:r>
          </a:p>
        </p:txBody>
      </p:sp>
      <p:sp>
        <p:nvSpPr>
          <p:cNvPr id="21" name="TextBox 20"/>
          <p:cNvSpPr txBox="1"/>
          <p:nvPr/>
        </p:nvSpPr>
        <p:spPr>
          <a:xfrm>
            <a:off x="8641080" y="4064508"/>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3M of 100M units on $50,000 → $1,500</a:t>
            </a:r>
          </a:p>
        </p:txBody>
      </p:sp>
      <p:sp>
        <p:nvSpPr>
          <p:cNvPr id="22" name="Rectangle 21"/>
          <p:cNvSpPr/>
          <p:nvPr/>
        </p:nvSpPr>
        <p:spPr>
          <a:xfrm>
            <a:off x="777240" y="5182362"/>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82362"/>
            <a:ext cx="91440" cy="8983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182362"/>
            <a:ext cx="3291840" cy="898398"/>
          </a:xfrm>
          <a:prstGeom prst="rect">
            <a:avLst/>
          </a:prstGeom>
          <a:noFill/>
        </p:spPr>
        <p:txBody>
          <a:bodyPr wrap="square" anchor="ctr">
            <a:spAutoFit/>
          </a:bodyPr>
          <a:lstStyle/>
          <a:p>
            <a:pPr algn="l">
              <a:spcAft>
                <a:spcPts val="400"/>
              </a:spcAft>
            </a:pPr>
            <a:r>
              <a:rPr sz="1500" b="1">
                <a:solidFill>
                  <a:srgbClr val="F59E0B"/>
                </a:solidFill>
                <a:latin typeface="Arial"/>
              </a:rPr>
              <a:t>Sum of years</a:t>
            </a:r>
          </a:p>
        </p:txBody>
      </p:sp>
      <p:sp>
        <p:nvSpPr>
          <p:cNvPr id="25" name="TextBox 24"/>
          <p:cNvSpPr txBox="1"/>
          <p:nvPr/>
        </p:nvSpPr>
        <p:spPr>
          <a:xfrm>
            <a:off x="4480560" y="5182362"/>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(Remaining life / SYD) × (Cost − Salvage)</a:t>
            </a:r>
          </a:p>
        </p:txBody>
      </p:sp>
      <p:sp>
        <p:nvSpPr>
          <p:cNvPr id="26" name="TextBox 25"/>
          <p:cNvSpPr txBox="1"/>
          <p:nvPr/>
        </p:nvSpPr>
        <p:spPr>
          <a:xfrm>
            <a:off x="8641080" y="5182362"/>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$25,000, 8 yrs → yr 1 $5,556, yr 2 $4,861</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OBLIGATIONS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Current (&lt; 1 year)</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Long-term (&gt; 1 year)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Current liabilities</a:t>
            </a:r>
          </a:p>
          <a:p>
            <a:pPr>
              <a:spcAft>
                <a:spcPts val="1000"/>
              </a:spcAft>
            </a:pPr>
            <a:r>
              <a:rPr sz="1400" b="0">
                <a:solidFill>
                  <a:srgbClr val="5B6372"/>
                </a:solidFill>
                <a:latin typeface="Arial"/>
              </a:rPr>
              <a:t>–  Accounts payable — money owed to vendors and suppliers</a:t>
            </a:r>
          </a:p>
          <a:p>
            <a:pPr>
              <a:spcAft>
                <a:spcPts val="1000"/>
              </a:spcAft>
            </a:pPr>
            <a:r>
              <a:rPr sz="1400" b="0">
                <a:solidFill>
                  <a:srgbClr val="5B6372"/>
                </a:solidFill>
                <a:latin typeface="Arial"/>
              </a:rPr>
              <a:t>–  Current debt / notes payable — borrowings payable within one year</a:t>
            </a:r>
          </a:p>
          <a:p>
            <a:pPr>
              <a:spcAft>
                <a:spcPts val="1000"/>
              </a:spcAft>
            </a:pPr>
            <a:r>
              <a:rPr sz="1400" b="0">
                <a:solidFill>
                  <a:srgbClr val="5B6372"/>
                </a:solidFill>
                <a:latin typeface="Arial"/>
              </a:rPr>
              <a:t>–  Current portion of long-term debt accrued this operating cycle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Long-term liabilities</a:t>
            </a:r>
          </a:p>
          <a:p>
            <a:pPr>
              <a:spcAft>
                <a:spcPts val="1000"/>
              </a:spcAft>
            </a:pPr>
            <a:r>
              <a:rPr sz="1400" b="0">
                <a:solidFill>
                  <a:srgbClr val="5B6372"/>
                </a:solidFill>
                <a:latin typeface="Arial"/>
              </a:rPr>
              <a:t>–  Bonds payable — principal at a future date, periodic interest</a:t>
            </a:r>
          </a:p>
          <a:p>
            <a:pPr>
              <a:spcAft>
                <a:spcPts val="1000"/>
              </a:spcAft>
            </a:pPr>
            <a:r>
              <a:rPr sz="1400" b="0">
                <a:solidFill>
                  <a:srgbClr val="5B6372"/>
                </a:solidFill>
                <a:latin typeface="Arial"/>
              </a:rPr>
              <a:t>–  Bond types: serial, sinking fund, convertible, registered, secured, debenture</a:t>
            </a:r>
          </a:p>
          <a:p>
            <a:pPr>
              <a:spcAft>
                <a:spcPts val="1000"/>
              </a:spcAft>
            </a:pPr>
            <a:r>
              <a:rPr sz="1400" b="0">
                <a:solidFill>
                  <a:srgbClr val="5B6372"/>
                </a:solidFill>
                <a:latin typeface="Arial"/>
              </a:rPr>
              <a:t>–  Long-term debt — owed to creditors beyond 12 months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OWNERS' STAKE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Shareholders' Equity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 capital</a:t>
            </a:r>
          </a:p>
          <a:p>
            <a:pPr algn="l">
              <a:spcAft>
                <a:spcPts val="300"/>
              </a:spcAft>
            </a:pPr>
            <a:r>
              <a:rPr sz="1200" b="0">
                <a:solidFill>
                  <a:srgbClr val="5B6372"/>
                </a:solidFill>
                <a:latin typeface="Arial"/>
              </a:rPr>
              <a:t>Money invested by the owners — common or preferred shares.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Capital stages</a:t>
            </a:r>
          </a:p>
          <a:p>
            <a:pPr algn="l">
              <a:spcAft>
                <a:spcPts val="300"/>
              </a:spcAft>
            </a:pPr>
            <a:r>
              <a:rPr sz="1200" b="0">
                <a:solidFill>
                  <a:srgbClr val="5B6372"/>
                </a:solidFill>
                <a:latin typeface="Arial"/>
              </a:rPr>
              <a:t>Authorized → issued → subscribed → called-up → paid-up capital.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Retained earnings</a:t>
            </a:r>
          </a:p>
          <a:p>
            <a:pPr algn="l">
              <a:spcAft>
                <a:spcPts val="300"/>
              </a:spcAft>
            </a:pPr>
            <a:r>
              <a:rPr sz="1200" b="0">
                <a:solidFill>
                  <a:srgbClr val="5B6372"/>
                </a:solidFill>
                <a:latin typeface="Arial"/>
              </a:rPr>
              <a:t>Net profits kept in the company after all dividends and distributions.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Private equity</a:t>
            </a:r>
          </a:p>
          <a:p>
            <a:pPr algn="l">
              <a:spcAft>
                <a:spcPts val="300"/>
              </a:spcAft>
            </a:pPr>
            <a:r>
              <a:rPr sz="1200" b="0">
                <a:solidFill>
                  <a:srgbClr val="5B6372"/>
                </a:solidFill>
                <a:latin typeface="Arial"/>
              </a:rPr>
              <a:t>Ownership interest in a private company.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INCOME STATEMENT · THE FUNDAMENTAL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Profits = Revenues − Expenses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income statement (Profit &amp; Loss) shows financial performance across an accounting period, from the top line to the bottom 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TOP LINE TO BOTTOM 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Income Statement — Structure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400" b="1">
                <a:solidFill>
                  <a:srgbClr val="161B26"/>
                </a:solidFill>
                <a:latin typeface="Arial"/>
              </a:rPr>
              <a:t>•  Revenue — the total of all sales (top line)</a:t>
            </a:r>
          </a:p>
          <a:p>
            <a:pPr>
              <a:spcAft>
                <a:spcPts val="1000"/>
              </a:spcAft>
            </a:pPr>
            <a:r>
              <a:rPr sz="1200" b="0">
                <a:solidFill>
                  <a:srgbClr val="5B6372"/>
                </a:solidFill>
                <a:latin typeface="Arial"/>
              </a:rPr>
              <a:t>–  − Cost of Goods Sold: direct materials, labour, overheads</a:t>
            </a:r>
          </a:p>
          <a:p>
            <a:pPr>
              <a:spcAft>
                <a:spcPts val="1000"/>
              </a:spcAft>
            </a:pPr>
            <a:r>
              <a:rPr sz="1400" b="1">
                <a:solidFill>
                  <a:srgbClr val="161B26"/>
                </a:solidFill>
                <a:latin typeface="Arial"/>
              </a:rPr>
              <a:t>•  = Gross Profit</a:t>
            </a:r>
          </a:p>
          <a:p>
            <a:pPr>
              <a:spcAft>
                <a:spcPts val="1000"/>
              </a:spcAft>
            </a:pPr>
            <a:r>
              <a:rPr sz="1200" b="0">
                <a:solidFill>
                  <a:srgbClr val="5B6372"/>
                </a:solidFill>
                <a:latin typeface="Arial"/>
              </a:rPr>
              <a:t>–  − Operating expenses: rental, admin payroll, utilities</a:t>
            </a:r>
          </a:p>
          <a:p>
            <a:pPr>
              <a:spcAft>
                <a:spcPts val="1000"/>
              </a:spcAft>
            </a:pPr>
            <a:r>
              <a:rPr sz="1400" b="1">
                <a:solidFill>
                  <a:srgbClr val="161B26"/>
                </a:solidFill>
                <a:latin typeface="Arial"/>
              </a:rPr>
              <a:t>•  = Operating Profit (EBIT)</a:t>
            </a:r>
          </a:p>
          <a:p>
            <a:pPr>
              <a:spcAft>
                <a:spcPts val="1000"/>
              </a:spcAft>
            </a:pPr>
            <a:r>
              <a:rPr sz="1200" b="0">
                <a:solidFill>
                  <a:srgbClr val="5B6372"/>
                </a:solidFill>
                <a:latin typeface="Arial"/>
              </a:rPr>
              <a:t>–  − Interest expenses on debt</a:t>
            </a:r>
          </a:p>
          <a:p>
            <a:pPr>
              <a:spcAft>
                <a:spcPts val="1000"/>
              </a:spcAft>
            </a:pPr>
            <a:r>
              <a:rPr sz="1400" b="1">
                <a:solidFill>
                  <a:srgbClr val="161B26"/>
                </a:solidFill>
                <a:latin typeface="Arial"/>
              </a:rPr>
              <a:t>•  = Profit before Tax → − Tax = Profit after Tax</a:t>
            </a:r>
          </a:p>
        </p:txBody>
      </p:sp>
      <p:pic>
        <p:nvPicPr>
          <p:cNvPr id="8" name="Picture 7" descr="income-statement-example.png"/>
          <p:cNvPicPr>
            <a:picLocks noChangeAspect="1"/>
          </p:cNvPicPr>
          <p:nvPr/>
        </p:nvPicPr>
        <p:blipFill>
          <a:blip r:embed="rId2"/>
          <a:stretch>
            <a:fillRect/>
          </a:stretch>
        </p:blipFill>
        <p:spPr>
          <a:xfrm>
            <a:off x="7004981" y="1828800"/>
            <a:ext cx="3729398"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COMPONENTS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Income Statement — Key Terms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Revenue</a:t>
            </a:r>
          </a:p>
          <a:p>
            <a:pPr algn="l">
              <a:spcAft>
                <a:spcPts val="300"/>
              </a:spcAft>
            </a:pPr>
            <a:r>
              <a:rPr sz="1100" b="0">
                <a:solidFill>
                  <a:srgbClr val="5B6372"/>
                </a:solidFill>
                <a:latin typeface="Arial"/>
              </a:rPr>
              <a:t>Money actually received in the period, net of discounts and returns — the top 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Expenses</a:t>
            </a:r>
          </a:p>
          <a:p>
            <a:pPr algn="l">
              <a:spcAft>
                <a:spcPts val="300"/>
              </a:spcAft>
            </a:pPr>
            <a:r>
              <a:rPr sz="1100" b="0">
                <a:solidFill>
                  <a:srgbClr val="5B6372"/>
                </a:solidFill>
                <a:latin typeface="Arial"/>
              </a:rPr>
              <a:t>Economic costs incurred to earn revenue; tax-deductible expenses lower taxable income.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EBITDA</a:t>
            </a:r>
          </a:p>
          <a:p>
            <a:pPr algn="l">
              <a:spcAft>
                <a:spcPts val="300"/>
              </a:spcAft>
            </a:pPr>
            <a:r>
              <a:rPr sz="1100" b="0">
                <a:solidFill>
                  <a:srgbClr val="5B6372"/>
                </a:solidFill>
                <a:latin typeface="Arial"/>
              </a:rPr>
              <a:t>Earnings before interest, tax, depreciation and amortization — operating performance without financing/accounting effects.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Depreciation &amp; amortization</a:t>
            </a:r>
          </a:p>
          <a:p>
            <a:pPr algn="l">
              <a:spcAft>
                <a:spcPts val="300"/>
              </a:spcAft>
            </a:pPr>
            <a:r>
              <a:rPr sz="1100" b="0">
                <a:solidFill>
                  <a:srgbClr val="5B6372"/>
                </a:solidFill>
                <a:latin typeface="Arial"/>
              </a:rPr>
              <a:t>Wear-and-tear of tangible assets (depreciation) and write-down of intangibles (amortization).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a:t>
            </a:r>
          </a:p>
          <a:p>
            <a:pPr algn="l">
              <a:spcAft>
                <a:spcPts val="300"/>
              </a:spcAft>
            </a:pPr>
            <a:r>
              <a:rPr sz="1100" b="0">
                <a:solidFill>
                  <a:srgbClr val="5B6372"/>
                </a:solidFill>
                <a:latin typeface="Arial"/>
              </a:rPr>
              <a:t>A mandatory financial charge imposed by the government on income.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Net income</a:t>
            </a:r>
          </a:p>
          <a:p>
            <a:pPr algn="l">
              <a:spcAft>
                <a:spcPts val="300"/>
              </a:spcAft>
            </a:pPr>
            <a:r>
              <a:rPr sz="1100" b="0">
                <a:solidFill>
                  <a:srgbClr val="5B6372"/>
                </a:solidFill>
                <a:latin typeface="Arial"/>
              </a:rPr>
              <a:t>What remains for the owners after every expense — the bottom 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PROFIT CASCADE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Summary of Income Statement Items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Revenue − COGS = Gross Profit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 Marketing, selling &amp; admin = EBITDA</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 Depreciation &amp; amortization = EBIT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 Interest &amp; other expenses = EBT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 Tax = Net Income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WHEN IS REVENUE RECOGNIZED?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Cash vs Accrual Basis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crual-vs-cash.png"/>
          <p:cNvPicPr>
            <a:picLocks noChangeAspect="1"/>
          </p:cNvPicPr>
          <p:nvPr/>
        </p:nvPicPr>
        <p:blipFill>
          <a:blip r:embed="rId2"/>
          <a:stretch>
            <a:fillRect/>
          </a:stretch>
        </p:blipFill>
        <p:spPr>
          <a:xfrm>
            <a:off x="2145138" y="1783080"/>
            <a:ext cx="7901418"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Accrual basis: recognise when the work is done. Cash basis: recognise when the cash is received.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FOLLOW THE CASH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Cash Flow Statement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 it shows</a:t>
            </a:r>
          </a:p>
          <a:p>
            <a:pPr algn="l">
              <a:spcAft>
                <a:spcPts val="300"/>
              </a:spcAft>
            </a:pPr>
            <a:r>
              <a:rPr sz="1200" b="0">
                <a:solidFill>
                  <a:srgbClr val="5B6372"/>
                </a:solidFill>
                <a:latin typeface="Arial"/>
              </a:rPr>
              <a:t>The movement of cash in the business — incoming and outgoing money.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Operating activities</a:t>
            </a:r>
          </a:p>
          <a:p>
            <a:pPr algn="l">
              <a:spcAft>
                <a:spcPts val="300"/>
              </a:spcAft>
            </a:pPr>
            <a:r>
              <a:rPr sz="1200" b="0">
                <a:solidFill>
                  <a:srgbClr val="5B6372"/>
                </a:solidFill>
                <a:latin typeface="Arial"/>
              </a:rPr>
              <a:t>Converts income-statement items from accrual to cash: sales income and production expenses.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Investing activities</a:t>
            </a:r>
          </a:p>
          <a:p>
            <a:pPr algn="l">
              <a:spcAft>
                <a:spcPts val="300"/>
              </a:spcAft>
            </a:pPr>
            <a:r>
              <a:rPr sz="1200" b="0">
                <a:solidFill>
                  <a:srgbClr val="5B6372"/>
                </a:solidFill>
                <a:latin typeface="Arial"/>
              </a:rPr>
              <a:t>Purchase and sale of long-term investments and PP&amp;E — gains or losses on assets.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Financing activities</a:t>
            </a:r>
          </a:p>
          <a:p>
            <a:pPr algn="l">
              <a:spcAft>
                <a:spcPts val="300"/>
              </a:spcAft>
            </a:pPr>
            <a:r>
              <a:rPr sz="1200" b="0">
                <a:solidFill>
                  <a:srgbClr val="5B6372"/>
                </a:solidFill>
                <a:latin typeface="Arial"/>
              </a:rPr>
              <a:t>Issuance/repurchase of stock and bonds, loans and dividend payments.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WORKED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Cash Flow Statement —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sh-flow-statement-example.png"/>
          <p:cNvPicPr>
            <a:picLocks noChangeAspect="1"/>
          </p:cNvPicPr>
          <p:nvPr/>
        </p:nvPicPr>
        <p:blipFill>
          <a:blip r:embed="rId2"/>
          <a:stretch>
            <a:fillRect/>
          </a:stretch>
        </p:blipFill>
        <p:spPr>
          <a:xfrm>
            <a:off x="3869068" y="1783080"/>
            <a:ext cx="4453558"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Operating, investing and financing blocks reconcile the opening cash balance to the closing balance.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Prepare a Cash Flow Statement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Havenwood Trading Pte Ltd is a fictitious Singapore SME distributor. From its FY2018/FY2019 balance sheets and FY2019 income statement (all in S$ million), derive the full statement of cash flows — operating, investing and financing — and reconcile it to the movement in cash.</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 complete statement of cash flows (operating / investing / financing) for Havenwood Trading, derived from the balance sheet movements and the income statement.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FA-Activity-01-Cash-Flow-Statement.xlsx in activities/activity01</a:t>
            </a:r>
          </a:p>
          <a:p>
            <a:pPr algn="l">
              <a:spcAft>
                <a:spcPts val="300"/>
              </a:spcAft>
            </a:pPr>
            <a:r>
              <a:rPr sz="1200" b="1">
                <a:solidFill>
                  <a:srgbClr val="10B981"/>
                </a:solidFill>
                <a:latin typeface="Arial"/>
              </a:rPr>
              <a:t>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Understanding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chart of accounts and double-entry rules keep the books in balance.</a:t>
            </a:r>
          </a:p>
          <a:p>
            <a:pPr>
              <a:spcAft>
                <a:spcPts val="1000"/>
              </a:spcAft>
            </a:pPr>
            <a:r>
              <a:rPr sz="1700" b="0">
                <a:solidFill>
                  <a:srgbClr val="161B26"/>
                </a:solidFill>
                <a:latin typeface="Arial"/>
              </a:rPr>
              <a:t>•  The balance sheet shows position: Assets = Liabilities + Equity.</a:t>
            </a:r>
          </a:p>
          <a:p>
            <a:pPr>
              <a:spcAft>
                <a:spcPts val="1000"/>
              </a:spcAft>
            </a:pPr>
            <a:r>
              <a:rPr sz="1700" b="0">
                <a:solidFill>
                  <a:srgbClr val="161B26"/>
                </a:solidFill>
                <a:latin typeface="Arial"/>
              </a:rPr>
              <a:t>•  The income statement shows performance: Profits = Revenues − Expenses.</a:t>
            </a:r>
          </a:p>
          <a:p>
            <a:pPr>
              <a:spcAft>
                <a:spcPts val="1000"/>
              </a:spcAft>
            </a:pPr>
            <a:r>
              <a:rPr sz="1700" b="0">
                <a:solidFill>
                  <a:srgbClr val="161B26"/>
                </a:solidFill>
                <a:latin typeface="Arial"/>
              </a:rPr>
              <a:t>•  The cash flow statement shows where the cash actually moved.</a:t>
            </a:r>
          </a:p>
          <a:p>
            <a:pPr>
              <a:spcAft>
                <a:spcPts val="1000"/>
              </a:spcAft>
            </a:pPr>
            <a:r>
              <a:rPr sz="1700" b="0">
                <a:solidFill>
                  <a:srgbClr val="161B26"/>
                </a:solidFill>
                <a:latin typeface="Arial"/>
              </a:rPr>
              <a:t>•  You prepared a full cash flow statement from a balance sheet and income statement.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Analysing Financial Ratios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Ratios for Corporate Profitability · Ratios for Corporate Performance · Equity Changes Statement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K4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Analysing Financial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Liquidity ratios</a:t>
            </a:r>
          </a:p>
          <a:p>
            <a:pPr algn="l">
              <a:spcAft>
                <a:spcPts val="300"/>
              </a:spcAft>
            </a:pPr>
            <a:r>
              <a:rPr sz="1200" b="0">
                <a:solidFill>
                  <a:srgbClr val="5B6372"/>
                </a:solidFill>
                <a:latin typeface="Arial"/>
              </a:rPr>
              <a:t>Current, quick, cash and operating-cash-flow ratios — can the firm pay its short-term bills?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Leverage ratios</a:t>
            </a:r>
          </a:p>
          <a:p>
            <a:pPr algn="l">
              <a:spcAft>
                <a:spcPts val="300"/>
              </a:spcAft>
            </a:pPr>
            <a:r>
              <a:rPr sz="1200" b="0">
                <a:solidFill>
                  <a:srgbClr val="5B6372"/>
                </a:solidFill>
                <a:latin typeface="Arial"/>
              </a:rPr>
              <a:t>Debt, debt-to-equity, interest coverage — how much risk is carried in the capital structure?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Efficiency ratios</a:t>
            </a:r>
          </a:p>
          <a:p>
            <a:pPr algn="l">
              <a:spcAft>
                <a:spcPts val="300"/>
              </a:spcAft>
            </a:pPr>
            <a:r>
              <a:rPr sz="1200" b="0">
                <a:solidFill>
                  <a:srgbClr val="5B6372"/>
                </a:solidFill>
                <a:latin typeface="Arial"/>
              </a:rPr>
              <a:t>Inventory, receivables, payables and asset turnover — how hard are the assets working?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Profitability ratios</a:t>
            </a:r>
          </a:p>
          <a:p>
            <a:pPr algn="l">
              <a:spcAft>
                <a:spcPts val="300"/>
              </a:spcAft>
            </a:pPr>
            <a:r>
              <a:rPr sz="1200" b="0">
                <a:solidFill>
                  <a:srgbClr val="5B6372"/>
                </a:solidFill>
                <a:latin typeface="Arial"/>
              </a:rPr>
              <a:t>Gross, operating, net margins, ROA, ROCE, ROE, EPS — is the business earning enough?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Equity changes statement</a:t>
            </a:r>
          </a:p>
          <a:p>
            <a:pPr algn="l">
              <a:spcAft>
                <a:spcPts val="300"/>
              </a:spcAft>
            </a:pPr>
            <a:r>
              <a:rPr sz="1200" b="0">
                <a:solidFill>
                  <a:srgbClr val="5B6372"/>
                </a:solidFill>
                <a:latin typeface="Arial"/>
              </a:rPr>
              <a:t>Reconciles opening to closing equity — share capital, dividends, retained earnings.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Trend analysis</a:t>
            </a:r>
          </a:p>
          <a:p>
            <a:pPr algn="l">
              <a:spcAft>
                <a:spcPts val="300"/>
              </a:spcAft>
            </a:pPr>
            <a:r>
              <a:rPr sz="1200" b="0">
                <a:solidFill>
                  <a:srgbClr val="5B6372"/>
                </a:solidFill>
                <a:latin typeface="Arial"/>
              </a:rPr>
              <a:t>Compare ratios across periods and statement types to spot direction and risk (A1).</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ANALYST'S TOOLKIT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Financial Ratio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Financial ratios are mathematical indicators calculated by comparing key figures in the financial statements.</a:t>
            </a:r>
          </a:p>
          <a:p>
            <a:pPr>
              <a:spcAft>
                <a:spcPts val="1000"/>
              </a:spcAft>
            </a:pPr>
            <a:r>
              <a:rPr sz="1700" b="0">
                <a:solidFill>
                  <a:srgbClr val="161B26"/>
                </a:solidFill>
                <a:latin typeface="Arial"/>
              </a:rPr>
              <a:t>•  They explain the reasons behind the current financial position and recent performance — and build expectations for the future.</a:t>
            </a:r>
          </a:p>
          <a:p>
            <a:pPr>
              <a:spcAft>
                <a:spcPts val="1000"/>
              </a:spcAft>
            </a:pPr>
            <a:r>
              <a:rPr sz="1700" b="0">
                <a:solidFill>
                  <a:srgbClr val="161B26"/>
                </a:solidFill>
                <a:latin typeface="Arial"/>
              </a:rPr>
              <a:t>•  Example: net profit margin compares net income with net revenue — the dollars of profit earned per $100 of sales.</a:t>
            </a:r>
          </a:p>
          <a:p>
            <a:pPr>
              <a:spcAft>
                <a:spcPts val="1000"/>
              </a:spcAft>
            </a:pPr>
            <a:r>
              <a:rPr sz="1700" b="0">
                <a:solidFill>
                  <a:srgbClr val="161B26"/>
                </a:solidFill>
                <a:latin typeface="Arial"/>
              </a:rPr>
              <a:t>•  Ratios only become meaningful against a benchmark: peers, the industry, or the company's own trend.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COMPARATIVE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Identifying Relevant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rative-ratio-analysis.png"/>
          <p:cNvPicPr>
            <a:picLocks noChangeAspect="1"/>
          </p:cNvPicPr>
          <p:nvPr/>
        </p:nvPicPr>
        <p:blipFill>
          <a:blip r:embed="rId2"/>
          <a:stretch>
            <a:fillRect/>
          </a:stretch>
        </p:blipFill>
        <p:spPr>
          <a:xfrm>
            <a:off x="1747032" y="1783080"/>
            <a:ext cx="8697631"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Profitability, liquidity, leverage, efficiency and market-value ratios compared across companies.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RATIOS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Benefits of Financial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Understand the profitability of the business.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Analyse operational efficiency.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Identify the liquidity of the business.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Identify business risks.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Identify financial risks.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Plan for the future.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RATIO MAP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Four Ratio Families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Liquidity &amp; Leverage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Current, quick, cash ratios</a:t>
            </a:r>
          </a:p>
          <a:p>
            <a:pPr>
              <a:spcAft>
                <a:spcPts val="900"/>
              </a:spcAft>
            </a:pPr>
            <a:r>
              <a:rPr sz="1400" b="0">
                <a:solidFill>
                  <a:srgbClr val="161B26"/>
                </a:solidFill>
                <a:latin typeface="Arial"/>
              </a:rPr>
              <a:t>•  Operating cash flow ratio</a:t>
            </a:r>
          </a:p>
          <a:p>
            <a:pPr>
              <a:spcAft>
                <a:spcPts val="900"/>
              </a:spcAft>
            </a:pPr>
            <a:r>
              <a:rPr sz="1400" b="0">
                <a:solidFill>
                  <a:srgbClr val="161B26"/>
                </a:solidFill>
                <a:latin typeface="Arial"/>
              </a:rPr>
              <a:t>•  Debt &amp; debt-to-equity ratios</a:t>
            </a:r>
          </a:p>
          <a:p>
            <a:pPr>
              <a:spcAft>
                <a:spcPts val="900"/>
              </a:spcAft>
            </a:pPr>
            <a:r>
              <a:rPr sz="1400" b="0">
                <a:solidFill>
                  <a:srgbClr val="161B26"/>
                </a:solidFill>
                <a:latin typeface="Arial"/>
              </a:rPr>
              <a:t>•  Interest &amp; debt service coverage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Efficiency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Asset turnover</a:t>
            </a:r>
          </a:p>
          <a:p>
            <a:pPr>
              <a:spcAft>
                <a:spcPts val="900"/>
              </a:spcAft>
            </a:pPr>
            <a:r>
              <a:rPr sz="1400" b="0">
                <a:solidFill>
                  <a:srgbClr val="161B26"/>
                </a:solidFill>
                <a:latin typeface="Arial"/>
              </a:rPr>
              <a:t>•  Inventory turnover</a:t>
            </a:r>
          </a:p>
          <a:p>
            <a:pPr>
              <a:spcAft>
                <a:spcPts val="900"/>
              </a:spcAft>
            </a:pPr>
            <a:r>
              <a:rPr sz="1400" b="0">
                <a:solidFill>
                  <a:srgbClr val="161B26"/>
                </a:solidFill>
                <a:latin typeface="Arial"/>
              </a:rPr>
              <a:t>•  Receivables &amp; payables turnover</a:t>
            </a:r>
          </a:p>
          <a:p>
            <a:pPr>
              <a:spcAft>
                <a:spcPts val="900"/>
              </a:spcAft>
            </a:pPr>
            <a:r>
              <a:rPr sz="1400" b="0">
                <a:solidFill>
                  <a:srgbClr val="161B26"/>
                </a:solidFill>
                <a:latin typeface="Arial"/>
              </a:rPr>
              <a:t>•  Collection &amp; payment periods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Profitability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Gross / operating / net margins</a:t>
            </a:r>
          </a:p>
          <a:p>
            <a:pPr>
              <a:spcAft>
                <a:spcPts val="900"/>
              </a:spcAft>
            </a:pPr>
            <a:r>
              <a:rPr sz="1400" b="0">
                <a:solidFill>
                  <a:srgbClr val="161B26"/>
                </a:solidFill>
                <a:latin typeface="Arial"/>
              </a:rPr>
              <a:t>•  Return on assets &amp; equity</a:t>
            </a:r>
          </a:p>
          <a:p>
            <a:pPr>
              <a:spcAft>
                <a:spcPts val="900"/>
              </a:spcAft>
            </a:pPr>
            <a:r>
              <a:rPr sz="1400" b="0">
                <a:solidFill>
                  <a:srgbClr val="161B26"/>
                </a:solidFill>
                <a:latin typeface="Arial"/>
              </a:rPr>
              <a:t>•  Return on capital employed</a:t>
            </a:r>
          </a:p>
          <a:p>
            <a:pPr>
              <a:spcAft>
                <a:spcPts val="900"/>
              </a:spcAft>
            </a:pPr>
            <a:r>
              <a:rPr sz="1400" b="0">
                <a:solidFill>
                  <a:srgbClr val="161B26"/>
                </a:solidFill>
                <a:latin typeface="Arial"/>
              </a:rPr>
              <a:t>•  Earnings per share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CAN THE FIRM PAY ITS BILLS?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Liquidity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8983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898398"/>
          </a:xfrm>
          <a:prstGeom prst="rect">
            <a:avLst/>
          </a:prstGeom>
          <a:noFill/>
        </p:spPr>
        <p:txBody>
          <a:bodyPr wrap="square" anchor="ctr">
            <a:spAutoFit/>
          </a:bodyPr>
          <a:lstStyle/>
          <a:p>
            <a:pPr algn="l">
              <a:spcAft>
                <a:spcPts val="400"/>
              </a:spcAft>
            </a:pPr>
            <a:r>
              <a:rPr sz="1500" b="1">
                <a:solidFill>
                  <a:srgbClr val="1F6FEB"/>
                </a:solidFill>
                <a:latin typeface="Arial"/>
              </a:rPr>
              <a:t>Current Ratio</a:t>
            </a:r>
          </a:p>
        </p:txBody>
      </p:sp>
      <p:sp>
        <p:nvSpPr>
          <p:cNvPr id="10" name="TextBox 9"/>
          <p:cNvSpPr txBox="1"/>
          <p:nvPr/>
        </p:nvSpPr>
        <p:spPr>
          <a:xfrm>
            <a:off x="4480560" y="1828800"/>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Current Assets / Current Liabilities</a:t>
            </a:r>
          </a:p>
        </p:txBody>
      </p:sp>
      <p:sp>
        <p:nvSpPr>
          <p:cNvPr id="11" name="TextBox 10"/>
          <p:cNvSpPr txBox="1"/>
          <p:nvPr/>
        </p:nvSpPr>
        <p:spPr>
          <a:xfrm>
            <a:off x="8641080" y="1828800"/>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 1 means current assets cover current bills</a:t>
            </a:r>
          </a:p>
        </p:txBody>
      </p:sp>
      <p:sp>
        <p:nvSpPr>
          <p:cNvPr id="12" name="Rectangle 11"/>
          <p:cNvSpPr/>
          <p:nvPr/>
        </p:nvSpPr>
        <p:spPr>
          <a:xfrm>
            <a:off x="777240" y="2946654"/>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46654"/>
            <a:ext cx="91440" cy="8983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46654"/>
            <a:ext cx="3291840" cy="898398"/>
          </a:xfrm>
          <a:prstGeom prst="rect">
            <a:avLst/>
          </a:prstGeom>
          <a:noFill/>
        </p:spPr>
        <p:txBody>
          <a:bodyPr wrap="square" anchor="ctr">
            <a:spAutoFit/>
          </a:bodyPr>
          <a:lstStyle/>
          <a:p>
            <a:pPr algn="l">
              <a:spcAft>
                <a:spcPts val="400"/>
              </a:spcAft>
            </a:pPr>
            <a:r>
              <a:rPr sz="1500" b="1">
                <a:solidFill>
                  <a:srgbClr val="10B981"/>
                </a:solidFill>
                <a:latin typeface="Arial"/>
              </a:rPr>
              <a:t>Quick (Acid Test) Ratio</a:t>
            </a:r>
          </a:p>
        </p:txBody>
      </p:sp>
      <p:sp>
        <p:nvSpPr>
          <p:cNvPr id="15" name="TextBox 14"/>
          <p:cNvSpPr txBox="1"/>
          <p:nvPr/>
        </p:nvSpPr>
        <p:spPr>
          <a:xfrm>
            <a:off x="4480560" y="2946654"/>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(Cash + Securities + Receivables) / CL</a:t>
            </a:r>
          </a:p>
        </p:txBody>
      </p:sp>
      <p:sp>
        <p:nvSpPr>
          <p:cNvPr id="16" name="TextBox 15"/>
          <p:cNvSpPr txBox="1"/>
          <p:nvPr/>
        </p:nvSpPr>
        <p:spPr>
          <a:xfrm>
            <a:off x="8641080" y="2946654"/>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Most readily available assets only</a:t>
            </a:r>
          </a:p>
        </p:txBody>
      </p:sp>
      <p:sp>
        <p:nvSpPr>
          <p:cNvPr id="17" name="Rectangle 16"/>
          <p:cNvSpPr/>
          <p:nvPr/>
        </p:nvSpPr>
        <p:spPr>
          <a:xfrm>
            <a:off x="777240" y="4064508"/>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8983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064508"/>
            <a:ext cx="3291840" cy="898398"/>
          </a:xfrm>
          <a:prstGeom prst="rect">
            <a:avLst/>
          </a:prstGeom>
          <a:noFill/>
        </p:spPr>
        <p:txBody>
          <a:bodyPr wrap="square" anchor="ctr">
            <a:spAutoFit/>
          </a:bodyPr>
          <a:lstStyle/>
          <a:p>
            <a:pPr algn="l">
              <a:spcAft>
                <a:spcPts val="400"/>
              </a:spcAft>
            </a:pPr>
            <a:r>
              <a:rPr sz="1500" b="1">
                <a:solidFill>
                  <a:srgbClr val="7C3AED"/>
                </a:solidFill>
                <a:latin typeface="Arial"/>
              </a:rPr>
              <a:t>Cash Ratio</a:t>
            </a:r>
          </a:p>
        </p:txBody>
      </p:sp>
      <p:sp>
        <p:nvSpPr>
          <p:cNvPr id="20" name="TextBox 19"/>
          <p:cNvSpPr txBox="1"/>
          <p:nvPr/>
        </p:nvSpPr>
        <p:spPr>
          <a:xfrm>
            <a:off x="4480560" y="4064508"/>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(Cash + Cash Equivalents) / CL</a:t>
            </a:r>
          </a:p>
        </p:txBody>
      </p:sp>
      <p:sp>
        <p:nvSpPr>
          <p:cNvPr id="21" name="TextBox 20"/>
          <p:cNvSpPr txBox="1"/>
          <p:nvPr/>
        </p:nvSpPr>
        <p:spPr>
          <a:xfrm>
            <a:off x="8641080" y="4064508"/>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Normal value is below 1.00</a:t>
            </a:r>
          </a:p>
        </p:txBody>
      </p:sp>
      <p:sp>
        <p:nvSpPr>
          <p:cNvPr id="22" name="Rectangle 21"/>
          <p:cNvSpPr/>
          <p:nvPr/>
        </p:nvSpPr>
        <p:spPr>
          <a:xfrm>
            <a:off x="777240" y="5182362"/>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82362"/>
            <a:ext cx="91440" cy="8983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182362"/>
            <a:ext cx="3291840" cy="898398"/>
          </a:xfrm>
          <a:prstGeom prst="rect">
            <a:avLst/>
          </a:prstGeom>
          <a:noFill/>
        </p:spPr>
        <p:txBody>
          <a:bodyPr wrap="square" anchor="ctr">
            <a:spAutoFit/>
          </a:bodyPr>
          <a:lstStyle/>
          <a:p>
            <a:pPr algn="l">
              <a:spcAft>
                <a:spcPts val="400"/>
              </a:spcAft>
            </a:pPr>
            <a:r>
              <a:rPr sz="1500" b="1">
                <a:solidFill>
                  <a:srgbClr val="F59E0B"/>
                </a:solidFill>
                <a:latin typeface="Arial"/>
              </a:rPr>
              <a:t>Operating Cash Flow Ratio</a:t>
            </a:r>
          </a:p>
        </p:txBody>
      </p:sp>
      <p:sp>
        <p:nvSpPr>
          <p:cNvPr id="25" name="TextBox 24"/>
          <p:cNvSpPr txBox="1"/>
          <p:nvPr/>
        </p:nvSpPr>
        <p:spPr>
          <a:xfrm>
            <a:off x="4480560" y="5182362"/>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Operating Cash Flow / CL</a:t>
            </a:r>
          </a:p>
        </p:txBody>
      </p:sp>
      <p:sp>
        <p:nvSpPr>
          <p:cNvPr id="26" name="TextBox 25"/>
          <p:cNvSpPr txBox="1"/>
          <p:nvPr/>
        </p:nvSpPr>
        <p:spPr>
          <a:xfrm>
            <a:off x="8641080" y="5182362"/>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Cash generated vs short-term obligations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INTERPRETATION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Reading the Liquidity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Current ratio ≥ 1: current assets exceed current liabilities — no expected liquidity problem; below 1 signals possible stress.</a:t>
            </a:r>
          </a:p>
          <a:p>
            <a:pPr>
              <a:spcAft>
                <a:spcPts val="1000"/>
              </a:spcAft>
            </a:pPr>
            <a:r>
              <a:rPr sz="1700" b="0">
                <a:solidFill>
                  <a:srgbClr val="161B26"/>
                </a:solidFill>
                <a:latin typeface="Arial"/>
              </a:rPr>
              <a:t>•  Quick ratio strips out inventory; a rule of thumb is 0.5, but always compare with the industry.</a:t>
            </a:r>
          </a:p>
          <a:p>
            <a:pPr>
              <a:spcAft>
                <a:spcPts val="1000"/>
              </a:spcAft>
            </a:pPr>
            <a:r>
              <a:rPr sz="1700" b="0">
                <a:solidFill>
                  <a:srgbClr val="161B26"/>
                </a:solidFill>
                <a:latin typeface="Arial"/>
              </a:rPr>
              <a:t>•  A quick ratio below the industry average may mean difficulty honouring current obligations.</a:t>
            </a:r>
          </a:p>
          <a:p>
            <a:pPr>
              <a:spcAft>
                <a:spcPts val="1000"/>
              </a:spcAft>
            </a:pPr>
            <a:r>
              <a:rPr sz="1700" b="0">
                <a:solidFill>
                  <a:srgbClr val="161B26"/>
                </a:solidFill>
                <a:latin typeface="Arial"/>
              </a:rPr>
              <a:t>•  Creditors like a high cash ratio — but idle cash earns nothing, so firms typically hold less than 1.00.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COMPANY A VS COMPANY 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Quick Ratio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uick-ratio-example.png"/>
          <p:cNvPicPr>
            <a:picLocks noChangeAspect="1"/>
          </p:cNvPicPr>
          <p:nvPr/>
        </p:nvPicPr>
        <p:blipFill>
          <a:blip r:embed="rId2"/>
          <a:stretch>
            <a:fillRect/>
          </a:stretch>
        </p:blipFill>
        <p:spPr>
          <a:xfrm>
            <a:off x="792327" y="2191532"/>
            <a:ext cx="10607040" cy="3526496"/>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Quick assets over current liabilities: Company A 0.95 vs Company B 1.21.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HOW MUCH RISK IN THE CAPITAL STRUCTURE?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Leverage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67482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674827"/>
          </a:xfrm>
          <a:prstGeom prst="rect">
            <a:avLst/>
          </a:prstGeom>
          <a:noFill/>
        </p:spPr>
        <p:txBody>
          <a:bodyPr wrap="square" anchor="ctr">
            <a:spAutoFit/>
          </a:bodyPr>
          <a:lstStyle/>
          <a:p>
            <a:pPr algn="l">
              <a:spcAft>
                <a:spcPts val="400"/>
              </a:spcAft>
            </a:pPr>
            <a:r>
              <a:rPr sz="1500" b="1">
                <a:solidFill>
                  <a:srgbClr val="1F6FEB"/>
                </a:solidFill>
                <a:latin typeface="Arial"/>
              </a:rPr>
              <a:t>Debt Ratio</a:t>
            </a:r>
          </a:p>
        </p:txBody>
      </p:sp>
      <p:sp>
        <p:nvSpPr>
          <p:cNvPr id="10" name="TextBox 9"/>
          <p:cNvSpPr txBox="1"/>
          <p:nvPr/>
        </p:nvSpPr>
        <p:spPr>
          <a:xfrm>
            <a:off x="4480560" y="1828800"/>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Total Debt / Total Assets</a:t>
            </a:r>
          </a:p>
        </p:txBody>
      </p:sp>
      <p:sp>
        <p:nvSpPr>
          <p:cNvPr id="11" name="TextBox 10"/>
          <p:cNvSpPr txBox="1"/>
          <p:nvPr/>
        </p:nvSpPr>
        <p:spPr>
          <a:xfrm>
            <a:off x="8641080" y="1828800"/>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&lt; 0.5 stable · &gt; 0.5 stability issue</a:t>
            </a:r>
          </a:p>
        </p:txBody>
      </p:sp>
      <p:sp>
        <p:nvSpPr>
          <p:cNvPr id="12" name="Rectangle 11"/>
          <p:cNvSpPr/>
          <p:nvPr/>
        </p:nvSpPr>
        <p:spPr>
          <a:xfrm>
            <a:off x="777240" y="2723083"/>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23083"/>
            <a:ext cx="91440" cy="67482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723083"/>
            <a:ext cx="3291840" cy="674827"/>
          </a:xfrm>
          <a:prstGeom prst="rect">
            <a:avLst/>
          </a:prstGeom>
          <a:noFill/>
        </p:spPr>
        <p:txBody>
          <a:bodyPr wrap="square" anchor="ctr">
            <a:spAutoFit/>
          </a:bodyPr>
          <a:lstStyle/>
          <a:p>
            <a:pPr algn="l">
              <a:spcAft>
                <a:spcPts val="400"/>
              </a:spcAft>
            </a:pPr>
            <a:r>
              <a:rPr sz="1500" b="1">
                <a:solidFill>
                  <a:srgbClr val="10B981"/>
                </a:solidFill>
                <a:latin typeface="Arial"/>
              </a:rPr>
              <a:t>Debt-to-Equity</a:t>
            </a:r>
          </a:p>
        </p:txBody>
      </p:sp>
      <p:sp>
        <p:nvSpPr>
          <p:cNvPr id="15" name="TextBox 14"/>
          <p:cNvSpPr txBox="1"/>
          <p:nvPr/>
        </p:nvSpPr>
        <p:spPr>
          <a:xfrm>
            <a:off x="4480560" y="2723083"/>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Total Liabilities / Shareholders' Equity</a:t>
            </a:r>
          </a:p>
        </p:txBody>
      </p:sp>
      <p:sp>
        <p:nvSpPr>
          <p:cNvPr id="16" name="TextBox 15"/>
          <p:cNvSpPr txBox="1"/>
          <p:nvPr/>
        </p:nvSpPr>
        <p:spPr>
          <a:xfrm>
            <a:off x="8641080" y="2723083"/>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1.00 = half debt-financed; lower is safer</a:t>
            </a:r>
          </a:p>
        </p:txBody>
      </p:sp>
      <p:sp>
        <p:nvSpPr>
          <p:cNvPr id="17" name="Rectangle 16"/>
          <p:cNvSpPr/>
          <p:nvPr/>
        </p:nvSpPr>
        <p:spPr>
          <a:xfrm>
            <a:off x="777240" y="3617366"/>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7366"/>
            <a:ext cx="91440" cy="67482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617366"/>
            <a:ext cx="3291840" cy="674827"/>
          </a:xfrm>
          <a:prstGeom prst="rect">
            <a:avLst/>
          </a:prstGeom>
          <a:noFill/>
        </p:spPr>
        <p:txBody>
          <a:bodyPr wrap="square" anchor="ctr">
            <a:spAutoFit/>
          </a:bodyPr>
          <a:lstStyle/>
          <a:p>
            <a:pPr algn="l">
              <a:spcAft>
                <a:spcPts val="400"/>
              </a:spcAft>
            </a:pPr>
            <a:r>
              <a:rPr sz="1500" b="1">
                <a:solidFill>
                  <a:srgbClr val="7C3AED"/>
                </a:solidFill>
                <a:latin typeface="Arial"/>
              </a:rPr>
              <a:t>Times Interest Earned</a:t>
            </a:r>
          </a:p>
        </p:txBody>
      </p:sp>
      <p:sp>
        <p:nvSpPr>
          <p:cNvPr id="20" name="TextBox 19"/>
          <p:cNvSpPr txBox="1"/>
          <p:nvPr/>
        </p:nvSpPr>
        <p:spPr>
          <a:xfrm>
            <a:off x="4480560" y="3617366"/>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EBIT / Interest Expense</a:t>
            </a:r>
          </a:p>
        </p:txBody>
      </p:sp>
      <p:sp>
        <p:nvSpPr>
          <p:cNvPr id="21" name="TextBox 20"/>
          <p:cNvSpPr txBox="1"/>
          <p:nvPr/>
        </p:nvSpPr>
        <p:spPr>
          <a:xfrm>
            <a:off x="8641080" y="3617366"/>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Can earnings cover the interest bill?</a:t>
            </a:r>
          </a:p>
        </p:txBody>
      </p:sp>
      <p:sp>
        <p:nvSpPr>
          <p:cNvPr id="22" name="Rectangle 21"/>
          <p:cNvSpPr/>
          <p:nvPr/>
        </p:nvSpPr>
        <p:spPr>
          <a:xfrm>
            <a:off x="777240" y="4511649"/>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11649"/>
            <a:ext cx="91440" cy="67482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511649"/>
            <a:ext cx="3291840" cy="674827"/>
          </a:xfrm>
          <a:prstGeom prst="rect">
            <a:avLst/>
          </a:prstGeom>
          <a:noFill/>
        </p:spPr>
        <p:txBody>
          <a:bodyPr wrap="square" anchor="ctr">
            <a:spAutoFit/>
          </a:bodyPr>
          <a:lstStyle/>
          <a:p>
            <a:pPr algn="l">
              <a:spcAft>
                <a:spcPts val="400"/>
              </a:spcAft>
            </a:pPr>
            <a:r>
              <a:rPr sz="1500" b="1">
                <a:solidFill>
                  <a:srgbClr val="F59E0B"/>
                </a:solidFill>
                <a:latin typeface="Arial"/>
              </a:rPr>
              <a:t>Fixed Charge Coverage</a:t>
            </a:r>
          </a:p>
        </p:txBody>
      </p:sp>
      <p:sp>
        <p:nvSpPr>
          <p:cNvPr id="25" name="TextBox 24"/>
          <p:cNvSpPr txBox="1"/>
          <p:nvPr/>
        </p:nvSpPr>
        <p:spPr>
          <a:xfrm>
            <a:off x="4480560" y="4511649"/>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(EBIT + Lease pmts) / (Interest + Lease pmts)</a:t>
            </a:r>
          </a:p>
        </p:txBody>
      </p:sp>
      <p:sp>
        <p:nvSpPr>
          <p:cNvPr id="26" name="TextBox 25"/>
          <p:cNvSpPr txBox="1"/>
          <p:nvPr/>
        </p:nvSpPr>
        <p:spPr>
          <a:xfrm>
            <a:off x="8641080" y="4511649"/>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Adds lease obligations to the test</a:t>
            </a:r>
          </a:p>
        </p:txBody>
      </p:sp>
      <p:sp>
        <p:nvSpPr>
          <p:cNvPr id="27" name="Rectangle 26"/>
          <p:cNvSpPr/>
          <p:nvPr/>
        </p:nvSpPr>
        <p:spPr>
          <a:xfrm>
            <a:off x="777240" y="5405932"/>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05932"/>
            <a:ext cx="91440" cy="67482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05932"/>
            <a:ext cx="3291840" cy="674827"/>
          </a:xfrm>
          <a:prstGeom prst="rect">
            <a:avLst/>
          </a:prstGeom>
          <a:noFill/>
        </p:spPr>
        <p:txBody>
          <a:bodyPr wrap="square" anchor="ctr">
            <a:spAutoFit/>
          </a:bodyPr>
          <a:lstStyle/>
          <a:p>
            <a:pPr algn="l">
              <a:spcAft>
                <a:spcPts val="400"/>
              </a:spcAft>
            </a:pPr>
            <a:r>
              <a:rPr sz="1500" b="1">
                <a:solidFill>
                  <a:srgbClr val="1F6FEB"/>
                </a:solidFill>
                <a:latin typeface="Arial"/>
              </a:rPr>
              <a:t>Debt Service Coverage</a:t>
            </a:r>
          </a:p>
        </p:txBody>
      </p:sp>
      <p:sp>
        <p:nvSpPr>
          <p:cNvPr id="30" name="TextBox 29"/>
          <p:cNvSpPr txBox="1"/>
          <p:nvPr/>
        </p:nvSpPr>
        <p:spPr>
          <a:xfrm>
            <a:off x="4480560" y="5405932"/>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Operating Income / Total Debt Service</a:t>
            </a:r>
          </a:p>
        </p:txBody>
      </p:sp>
      <p:sp>
        <p:nvSpPr>
          <p:cNvPr id="31" name="TextBox 30"/>
          <p:cNvSpPr txBox="1"/>
          <p:nvPr/>
        </p:nvSpPr>
        <p:spPr>
          <a:xfrm>
            <a:off x="8641080" y="5405932"/>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Principal + interest coverage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INTERPRETATION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Reading the Leverage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Debt ratio measures the risk that assets cannot pay off debts — critical for long-term sustainability.</a:t>
            </a:r>
          </a:p>
          <a:p>
            <a:pPr>
              <a:spcAft>
                <a:spcPts val="1000"/>
              </a:spcAft>
            </a:pPr>
            <a:r>
              <a:rPr sz="1700" b="0">
                <a:solidFill>
                  <a:srgbClr val="161B26"/>
                </a:solidFill>
                <a:latin typeface="Arial"/>
              </a:rPr>
              <a:t>•  Very low debt can also mean under-utilised financing and restricted growth.</a:t>
            </a:r>
          </a:p>
          <a:p>
            <a:pPr>
              <a:spcAft>
                <a:spcPts val="1000"/>
              </a:spcAft>
            </a:pPr>
            <a:r>
              <a:rPr sz="1700" b="0">
                <a:solidFill>
                  <a:srgbClr val="161B26"/>
                </a:solidFill>
                <a:latin typeface="Arial"/>
              </a:rPr>
              <a:t>•  A rising debt-to-equity trend is a warning: more of the assets are financed by lenders.</a:t>
            </a:r>
          </a:p>
          <a:p>
            <a:pPr>
              <a:spcAft>
                <a:spcPts val="1000"/>
              </a:spcAft>
            </a:pPr>
            <a:r>
              <a:rPr sz="1700" b="0">
                <a:solidFill>
                  <a:srgbClr val="161B26"/>
                </a:solidFill>
                <a:latin typeface="Arial"/>
              </a:rPr>
              <a:t>•  Higher times-interest-earned is favourable — the company earns enough to pay its interest.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HARD ARE THE ASSETS WORKING?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Efficiency Ratios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8983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898398"/>
          </a:xfrm>
          <a:prstGeom prst="rect">
            <a:avLst/>
          </a:prstGeom>
          <a:noFill/>
        </p:spPr>
        <p:txBody>
          <a:bodyPr wrap="square" anchor="ctr">
            <a:spAutoFit/>
          </a:bodyPr>
          <a:lstStyle/>
          <a:p>
            <a:pPr algn="l">
              <a:spcAft>
                <a:spcPts val="400"/>
              </a:spcAft>
            </a:pPr>
            <a:r>
              <a:rPr sz="1500" b="1">
                <a:solidFill>
                  <a:srgbClr val="1F6FEB"/>
                </a:solidFill>
                <a:latin typeface="Arial"/>
              </a:rPr>
              <a:t>Asset Turnover</a:t>
            </a:r>
          </a:p>
        </p:txBody>
      </p:sp>
      <p:sp>
        <p:nvSpPr>
          <p:cNvPr id="10" name="TextBox 9"/>
          <p:cNvSpPr txBox="1"/>
          <p:nvPr/>
        </p:nvSpPr>
        <p:spPr>
          <a:xfrm>
            <a:off x="4480560" y="1828800"/>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Net Sales / Average Total Assets</a:t>
            </a:r>
          </a:p>
        </p:txBody>
      </p:sp>
      <p:sp>
        <p:nvSpPr>
          <p:cNvPr id="11" name="TextBox 10"/>
          <p:cNvSpPr txBox="1"/>
          <p:nvPr/>
        </p:nvSpPr>
        <p:spPr>
          <a:xfrm>
            <a:off x="8641080" y="1828800"/>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Revenue per dollar of assets</a:t>
            </a:r>
          </a:p>
        </p:txBody>
      </p:sp>
      <p:sp>
        <p:nvSpPr>
          <p:cNvPr id="12" name="Rectangle 11"/>
          <p:cNvSpPr/>
          <p:nvPr/>
        </p:nvSpPr>
        <p:spPr>
          <a:xfrm>
            <a:off x="777240" y="2946654"/>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46654"/>
            <a:ext cx="91440" cy="8983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46654"/>
            <a:ext cx="3291840" cy="898398"/>
          </a:xfrm>
          <a:prstGeom prst="rect">
            <a:avLst/>
          </a:prstGeom>
          <a:noFill/>
        </p:spPr>
        <p:txBody>
          <a:bodyPr wrap="square" anchor="ctr">
            <a:spAutoFit/>
          </a:bodyPr>
          <a:lstStyle/>
          <a:p>
            <a:pPr algn="l">
              <a:spcAft>
                <a:spcPts val="400"/>
              </a:spcAft>
            </a:pPr>
            <a:r>
              <a:rPr sz="1500" b="1">
                <a:solidFill>
                  <a:srgbClr val="10B981"/>
                </a:solidFill>
                <a:latin typeface="Arial"/>
              </a:rPr>
              <a:t>Inventory Turnover</a:t>
            </a:r>
          </a:p>
        </p:txBody>
      </p:sp>
      <p:sp>
        <p:nvSpPr>
          <p:cNvPr id="15" name="TextBox 14"/>
          <p:cNvSpPr txBox="1"/>
          <p:nvPr/>
        </p:nvSpPr>
        <p:spPr>
          <a:xfrm>
            <a:off x="4480560" y="2946654"/>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COGS / Average Inventories</a:t>
            </a:r>
          </a:p>
        </p:txBody>
      </p:sp>
      <p:sp>
        <p:nvSpPr>
          <p:cNvPr id="16" name="TextBox 15"/>
          <p:cNvSpPr txBox="1"/>
          <p:nvPr/>
        </p:nvSpPr>
        <p:spPr>
          <a:xfrm>
            <a:off x="8641080" y="2946654"/>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High = efficient; low = over-stocking</a:t>
            </a:r>
          </a:p>
        </p:txBody>
      </p:sp>
      <p:sp>
        <p:nvSpPr>
          <p:cNvPr id="17" name="Rectangle 16"/>
          <p:cNvSpPr/>
          <p:nvPr/>
        </p:nvSpPr>
        <p:spPr>
          <a:xfrm>
            <a:off x="777240" y="4064508"/>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8983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064508"/>
            <a:ext cx="3291840" cy="898398"/>
          </a:xfrm>
          <a:prstGeom prst="rect">
            <a:avLst/>
          </a:prstGeom>
          <a:noFill/>
        </p:spPr>
        <p:txBody>
          <a:bodyPr wrap="square" anchor="ctr">
            <a:spAutoFit/>
          </a:bodyPr>
          <a:lstStyle/>
          <a:p>
            <a:pPr algn="l">
              <a:spcAft>
                <a:spcPts val="400"/>
              </a:spcAft>
            </a:pPr>
            <a:r>
              <a:rPr sz="1500" b="1">
                <a:solidFill>
                  <a:srgbClr val="7C3AED"/>
                </a:solidFill>
                <a:latin typeface="Arial"/>
              </a:rPr>
              <a:t>Receivables Turnover</a:t>
            </a:r>
          </a:p>
        </p:txBody>
      </p:sp>
      <p:sp>
        <p:nvSpPr>
          <p:cNvPr id="20" name="TextBox 19"/>
          <p:cNvSpPr txBox="1"/>
          <p:nvPr/>
        </p:nvSpPr>
        <p:spPr>
          <a:xfrm>
            <a:off x="4480560" y="4064508"/>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Net Credit Sales / Average AR</a:t>
            </a:r>
          </a:p>
        </p:txBody>
      </p:sp>
      <p:sp>
        <p:nvSpPr>
          <p:cNvPr id="21" name="TextBox 20"/>
          <p:cNvSpPr txBox="1"/>
          <p:nvPr/>
        </p:nvSpPr>
        <p:spPr>
          <a:xfrm>
            <a:off x="8641080" y="4064508"/>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How fast credit sales are collected</a:t>
            </a:r>
          </a:p>
        </p:txBody>
      </p:sp>
      <p:sp>
        <p:nvSpPr>
          <p:cNvPr id="22" name="Rectangle 21"/>
          <p:cNvSpPr/>
          <p:nvPr/>
        </p:nvSpPr>
        <p:spPr>
          <a:xfrm>
            <a:off x="777240" y="5182362"/>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82362"/>
            <a:ext cx="91440" cy="8983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182362"/>
            <a:ext cx="3291840" cy="898398"/>
          </a:xfrm>
          <a:prstGeom prst="rect">
            <a:avLst/>
          </a:prstGeom>
          <a:noFill/>
        </p:spPr>
        <p:txBody>
          <a:bodyPr wrap="square" anchor="ctr">
            <a:spAutoFit/>
          </a:bodyPr>
          <a:lstStyle/>
          <a:p>
            <a:pPr algn="l">
              <a:spcAft>
                <a:spcPts val="400"/>
              </a:spcAft>
            </a:pPr>
            <a:r>
              <a:rPr sz="1500" b="1">
                <a:solidFill>
                  <a:srgbClr val="F59E0B"/>
                </a:solidFill>
                <a:latin typeface="Arial"/>
              </a:rPr>
              <a:t>Payables Turnover</a:t>
            </a:r>
          </a:p>
        </p:txBody>
      </p:sp>
      <p:sp>
        <p:nvSpPr>
          <p:cNvPr id="25" name="TextBox 24"/>
          <p:cNvSpPr txBox="1"/>
          <p:nvPr/>
        </p:nvSpPr>
        <p:spPr>
          <a:xfrm>
            <a:off x="4480560" y="5182362"/>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Net Purchases / Average AP</a:t>
            </a:r>
          </a:p>
        </p:txBody>
      </p:sp>
      <p:sp>
        <p:nvSpPr>
          <p:cNvPr id="26" name="TextBox 25"/>
          <p:cNvSpPr txBox="1"/>
          <p:nvPr/>
        </p:nvSpPr>
        <p:spPr>
          <a:xfrm>
            <a:off x="8641080" y="5182362"/>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How quickly suppliers are repaid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TURNOVER &amp; DAYS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Efficiency Ratios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8983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898398"/>
          </a:xfrm>
          <a:prstGeom prst="rect">
            <a:avLst/>
          </a:prstGeom>
          <a:noFill/>
        </p:spPr>
        <p:txBody>
          <a:bodyPr wrap="square" anchor="ctr">
            <a:spAutoFit/>
          </a:bodyPr>
          <a:lstStyle/>
          <a:p>
            <a:pPr algn="l">
              <a:spcAft>
                <a:spcPts val="400"/>
              </a:spcAft>
            </a:pPr>
            <a:r>
              <a:rPr sz="1500" b="1">
                <a:solidFill>
                  <a:srgbClr val="1F6FEB"/>
                </a:solidFill>
                <a:latin typeface="Arial"/>
              </a:rPr>
              <a:t>Fixed Asset Turnover</a:t>
            </a:r>
          </a:p>
        </p:txBody>
      </p:sp>
      <p:sp>
        <p:nvSpPr>
          <p:cNvPr id="10" name="TextBox 9"/>
          <p:cNvSpPr txBox="1"/>
          <p:nvPr/>
        </p:nvSpPr>
        <p:spPr>
          <a:xfrm>
            <a:off x="4480560" y="1828800"/>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Net Revenue / Average Fixed Assets</a:t>
            </a:r>
          </a:p>
        </p:txBody>
      </p:sp>
      <p:sp>
        <p:nvSpPr>
          <p:cNvPr id="11" name="TextBox 10"/>
          <p:cNvSpPr txBox="1"/>
          <p:nvPr/>
        </p:nvSpPr>
        <p:spPr>
          <a:xfrm>
            <a:off x="8641080" y="1828800"/>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Revenue per dollar of fixed assets</a:t>
            </a:r>
          </a:p>
        </p:txBody>
      </p:sp>
      <p:sp>
        <p:nvSpPr>
          <p:cNvPr id="12" name="Rectangle 11"/>
          <p:cNvSpPr/>
          <p:nvPr/>
        </p:nvSpPr>
        <p:spPr>
          <a:xfrm>
            <a:off x="777240" y="2946654"/>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46654"/>
            <a:ext cx="91440" cy="8983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46654"/>
            <a:ext cx="3291840" cy="898398"/>
          </a:xfrm>
          <a:prstGeom prst="rect">
            <a:avLst/>
          </a:prstGeom>
          <a:noFill/>
        </p:spPr>
        <p:txBody>
          <a:bodyPr wrap="square" anchor="ctr">
            <a:spAutoFit/>
          </a:bodyPr>
          <a:lstStyle/>
          <a:p>
            <a:pPr algn="l">
              <a:spcAft>
                <a:spcPts val="400"/>
              </a:spcAft>
            </a:pPr>
            <a:r>
              <a:rPr sz="1500" b="1">
                <a:solidFill>
                  <a:srgbClr val="10B981"/>
                </a:solidFill>
                <a:latin typeface="Arial"/>
              </a:rPr>
              <a:t>Working Capital Turnover</a:t>
            </a:r>
          </a:p>
        </p:txBody>
      </p:sp>
      <p:sp>
        <p:nvSpPr>
          <p:cNvPr id="15" name="TextBox 14"/>
          <p:cNvSpPr txBox="1"/>
          <p:nvPr/>
        </p:nvSpPr>
        <p:spPr>
          <a:xfrm>
            <a:off x="4480560" y="2946654"/>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Revenue / Average Working Capital</a:t>
            </a:r>
          </a:p>
        </p:txBody>
      </p:sp>
      <p:sp>
        <p:nvSpPr>
          <p:cNvPr id="16" name="TextBox 15"/>
          <p:cNvSpPr txBox="1"/>
          <p:nvPr/>
        </p:nvSpPr>
        <p:spPr>
          <a:xfrm>
            <a:off x="8641080" y="2946654"/>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Revenue per dollar of working capital</a:t>
            </a:r>
          </a:p>
        </p:txBody>
      </p:sp>
      <p:sp>
        <p:nvSpPr>
          <p:cNvPr id="17" name="Rectangle 16"/>
          <p:cNvSpPr/>
          <p:nvPr/>
        </p:nvSpPr>
        <p:spPr>
          <a:xfrm>
            <a:off x="777240" y="4064508"/>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8983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064508"/>
            <a:ext cx="3291840" cy="898398"/>
          </a:xfrm>
          <a:prstGeom prst="rect">
            <a:avLst/>
          </a:prstGeom>
          <a:noFill/>
        </p:spPr>
        <p:txBody>
          <a:bodyPr wrap="square" anchor="ctr">
            <a:spAutoFit/>
          </a:bodyPr>
          <a:lstStyle/>
          <a:p>
            <a:pPr algn="l">
              <a:spcAft>
                <a:spcPts val="400"/>
              </a:spcAft>
            </a:pPr>
            <a:r>
              <a:rPr sz="1500" b="1">
                <a:solidFill>
                  <a:srgbClr val="7C3AED"/>
                </a:solidFill>
                <a:latin typeface="Arial"/>
              </a:rPr>
              <a:t>Average Collection Period</a:t>
            </a:r>
          </a:p>
        </p:txBody>
      </p:sp>
      <p:sp>
        <p:nvSpPr>
          <p:cNvPr id="20" name="TextBox 19"/>
          <p:cNvSpPr txBox="1"/>
          <p:nvPr/>
        </p:nvSpPr>
        <p:spPr>
          <a:xfrm>
            <a:off x="4480560" y="4064508"/>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365 / Receivables Turnover</a:t>
            </a:r>
          </a:p>
        </p:txBody>
      </p:sp>
      <p:sp>
        <p:nvSpPr>
          <p:cNvPr id="21" name="TextBox 20"/>
          <p:cNvSpPr txBox="1"/>
          <p:nvPr/>
        </p:nvSpPr>
        <p:spPr>
          <a:xfrm>
            <a:off x="8641080" y="4064508"/>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AR $40k on sales $400k → 36.5 days</a:t>
            </a:r>
          </a:p>
        </p:txBody>
      </p:sp>
      <p:sp>
        <p:nvSpPr>
          <p:cNvPr id="22" name="Rectangle 21"/>
          <p:cNvSpPr/>
          <p:nvPr/>
        </p:nvSpPr>
        <p:spPr>
          <a:xfrm>
            <a:off x="777240" y="5182362"/>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82362"/>
            <a:ext cx="91440" cy="8983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182362"/>
            <a:ext cx="3291840" cy="898398"/>
          </a:xfrm>
          <a:prstGeom prst="rect">
            <a:avLst/>
          </a:prstGeom>
          <a:noFill/>
        </p:spPr>
        <p:txBody>
          <a:bodyPr wrap="square" anchor="ctr">
            <a:spAutoFit/>
          </a:bodyPr>
          <a:lstStyle/>
          <a:p>
            <a:pPr algn="l">
              <a:spcAft>
                <a:spcPts val="400"/>
              </a:spcAft>
            </a:pPr>
            <a:r>
              <a:rPr sz="1500" b="1">
                <a:solidFill>
                  <a:srgbClr val="F59E0B"/>
                </a:solidFill>
                <a:latin typeface="Arial"/>
              </a:rPr>
              <a:t>Average Payment Period</a:t>
            </a:r>
          </a:p>
        </p:txBody>
      </p:sp>
      <p:sp>
        <p:nvSpPr>
          <p:cNvPr id="25" name="TextBox 24"/>
          <p:cNvSpPr txBox="1"/>
          <p:nvPr/>
        </p:nvSpPr>
        <p:spPr>
          <a:xfrm>
            <a:off x="4480560" y="5182362"/>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365 / Payables Turnover</a:t>
            </a:r>
          </a:p>
        </p:txBody>
      </p:sp>
      <p:sp>
        <p:nvSpPr>
          <p:cNvPr id="26" name="TextBox 25"/>
          <p:cNvSpPr txBox="1"/>
          <p:nvPr/>
        </p:nvSpPr>
        <p:spPr>
          <a:xfrm>
            <a:off x="8641080" y="5182362"/>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AP turnover 2 → 182.5 days to pay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COMPANY A VS COMPANY 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Inventory Turnover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ventory-turnover-example.png"/>
          <p:cNvPicPr>
            <a:picLocks noChangeAspect="1"/>
          </p:cNvPicPr>
          <p:nvPr/>
        </p:nvPicPr>
        <p:blipFill>
          <a:blip r:embed="rId2"/>
          <a:stretch>
            <a:fillRect/>
          </a:stretch>
        </p:blipFill>
        <p:spPr>
          <a:xfrm>
            <a:off x="792327" y="2191080"/>
            <a:ext cx="10607040" cy="3527399"/>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COGS over average inventory: Company A turns 2.33× vs Company B 1.75×.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IS THE BUSINESS EARNING ENOUGH?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Profitability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525780"/>
          </a:xfrm>
          <a:prstGeom prst="rect">
            <a:avLst/>
          </a:prstGeom>
          <a:noFill/>
        </p:spPr>
        <p:txBody>
          <a:bodyPr wrap="square" anchor="ctr">
            <a:spAutoFit/>
          </a:bodyPr>
          <a:lstStyle/>
          <a:p>
            <a:pPr algn="l">
              <a:spcAft>
                <a:spcPts val="400"/>
              </a:spcAft>
            </a:pPr>
            <a:r>
              <a:rPr sz="1500" b="1">
                <a:solidFill>
                  <a:srgbClr val="1F6FEB"/>
                </a:solidFill>
                <a:latin typeface="Arial"/>
              </a:rPr>
              <a:t>Gross Profit Margin</a:t>
            </a:r>
          </a:p>
        </p:txBody>
      </p:sp>
      <p:sp>
        <p:nvSpPr>
          <p:cNvPr id="10" name="TextBox 9"/>
          <p:cNvSpPr txBox="1"/>
          <p:nvPr/>
        </p:nvSpPr>
        <p:spPr>
          <a:xfrm>
            <a:off x="4480560" y="1828800"/>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Gross Profit / Revenue</a:t>
            </a:r>
          </a:p>
        </p:txBody>
      </p:sp>
      <p:sp>
        <p:nvSpPr>
          <p:cNvPr id="11" name="TextBox 10"/>
          <p:cNvSpPr txBox="1"/>
          <p:nvPr/>
        </p:nvSpPr>
        <p:spPr>
          <a:xfrm>
            <a:off x="8641080" y="1828800"/>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Production efficiency / pricing strategy</a:t>
            </a:r>
          </a:p>
        </p:txBody>
      </p:sp>
      <p:sp>
        <p:nvSpPr>
          <p:cNvPr id="12" name="Rectangle 11"/>
          <p:cNvSpPr/>
          <p:nvPr/>
        </p:nvSpPr>
        <p:spPr>
          <a:xfrm>
            <a:off x="777240" y="2574036"/>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74036"/>
            <a:ext cx="91440" cy="5257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574036"/>
            <a:ext cx="3291840" cy="525780"/>
          </a:xfrm>
          <a:prstGeom prst="rect">
            <a:avLst/>
          </a:prstGeom>
          <a:noFill/>
        </p:spPr>
        <p:txBody>
          <a:bodyPr wrap="square" anchor="ctr">
            <a:spAutoFit/>
          </a:bodyPr>
          <a:lstStyle/>
          <a:p>
            <a:pPr algn="l">
              <a:spcAft>
                <a:spcPts val="400"/>
              </a:spcAft>
            </a:pPr>
            <a:r>
              <a:rPr sz="1500" b="1">
                <a:solidFill>
                  <a:srgbClr val="10B981"/>
                </a:solidFill>
                <a:latin typeface="Arial"/>
              </a:rPr>
              <a:t>Operating Margin</a:t>
            </a:r>
          </a:p>
        </p:txBody>
      </p:sp>
      <p:sp>
        <p:nvSpPr>
          <p:cNvPr id="15" name="TextBox 14"/>
          <p:cNvSpPr txBox="1"/>
          <p:nvPr/>
        </p:nvSpPr>
        <p:spPr>
          <a:xfrm>
            <a:off x="4480560" y="2574036"/>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Operating Income (EBIT) / Revenue</a:t>
            </a:r>
          </a:p>
        </p:txBody>
      </p:sp>
      <p:sp>
        <p:nvSpPr>
          <p:cNvPr id="16" name="TextBox 15"/>
          <p:cNvSpPr txBox="1"/>
          <p:nvPr/>
        </p:nvSpPr>
        <p:spPr>
          <a:xfrm>
            <a:off x="8641080" y="2574036"/>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9% → $0.09 profit per $1 of sales</a:t>
            </a:r>
          </a:p>
        </p:txBody>
      </p:sp>
      <p:sp>
        <p:nvSpPr>
          <p:cNvPr id="17" name="Rectangle 16"/>
          <p:cNvSpPr/>
          <p:nvPr/>
        </p:nvSpPr>
        <p:spPr>
          <a:xfrm>
            <a:off x="777240" y="3319272"/>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25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319272"/>
            <a:ext cx="3291840" cy="525780"/>
          </a:xfrm>
          <a:prstGeom prst="rect">
            <a:avLst/>
          </a:prstGeom>
          <a:noFill/>
        </p:spPr>
        <p:txBody>
          <a:bodyPr wrap="square" anchor="ctr">
            <a:spAutoFit/>
          </a:bodyPr>
          <a:lstStyle/>
          <a:p>
            <a:pPr algn="l">
              <a:spcAft>
                <a:spcPts val="400"/>
              </a:spcAft>
            </a:pPr>
            <a:r>
              <a:rPr sz="1500" b="1">
                <a:solidFill>
                  <a:srgbClr val="7C3AED"/>
                </a:solidFill>
                <a:latin typeface="Arial"/>
              </a:rPr>
              <a:t>Net Profit Margin</a:t>
            </a:r>
          </a:p>
        </p:txBody>
      </p:sp>
      <p:sp>
        <p:nvSpPr>
          <p:cNvPr id="20" name="TextBox 19"/>
          <p:cNvSpPr txBox="1"/>
          <p:nvPr/>
        </p:nvSpPr>
        <p:spPr>
          <a:xfrm>
            <a:off x="4480560" y="3319272"/>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Net Income / Net Sales</a:t>
            </a:r>
          </a:p>
        </p:txBody>
      </p:sp>
      <p:sp>
        <p:nvSpPr>
          <p:cNvPr id="21" name="TextBox 20"/>
          <p:cNvSpPr txBox="1"/>
          <p:nvPr/>
        </p:nvSpPr>
        <p:spPr>
          <a:xfrm>
            <a:off x="8641080" y="3319272"/>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The most basic profitability measure</a:t>
            </a:r>
          </a:p>
        </p:txBody>
      </p:sp>
      <p:sp>
        <p:nvSpPr>
          <p:cNvPr id="22" name="Rectangle 21"/>
          <p:cNvSpPr/>
          <p:nvPr/>
        </p:nvSpPr>
        <p:spPr>
          <a:xfrm>
            <a:off x="777240" y="4064508"/>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64508"/>
            <a:ext cx="91440" cy="525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064508"/>
            <a:ext cx="3291840" cy="525780"/>
          </a:xfrm>
          <a:prstGeom prst="rect">
            <a:avLst/>
          </a:prstGeom>
          <a:noFill/>
        </p:spPr>
        <p:txBody>
          <a:bodyPr wrap="square" anchor="ctr">
            <a:spAutoFit/>
          </a:bodyPr>
          <a:lstStyle/>
          <a:p>
            <a:pPr algn="l">
              <a:spcAft>
                <a:spcPts val="400"/>
              </a:spcAft>
            </a:pPr>
            <a:r>
              <a:rPr sz="1500" b="1">
                <a:solidFill>
                  <a:srgbClr val="F59E0B"/>
                </a:solidFill>
                <a:latin typeface="Arial"/>
              </a:rPr>
              <a:t>Return on Assets</a:t>
            </a:r>
          </a:p>
        </p:txBody>
      </p:sp>
      <p:sp>
        <p:nvSpPr>
          <p:cNvPr id="25" name="TextBox 24"/>
          <p:cNvSpPr txBox="1"/>
          <p:nvPr/>
        </p:nvSpPr>
        <p:spPr>
          <a:xfrm>
            <a:off x="4480560" y="4064508"/>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Net Income / Average Total Assets</a:t>
            </a:r>
          </a:p>
        </p:txBody>
      </p:sp>
      <p:sp>
        <p:nvSpPr>
          <p:cNvPr id="26" name="TextBox 25"/>
          <p:cNvSpPr txBox="1"/>
          <p:nvPr/>
        </p:nvSpPr>
        <p:spPr>
          <a:xfrm>
            <a:off x="8641080" y="4064508"/>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Cents earned per dollar of assets</a:t>
            </a:r>
          </a:p>
        </p:txBody>
      </p:sp>
      <p:sp>
        <p:nvSpPr>
          <p:cNvPr id="27" name="Rectangle 26"/>
          <p:cNvSpPr/>
          <p:nvPr/>
        </p:nvSpPr>
        <p:spPr>
          <a:xfrm>
            <a:off x="777240" y="4809744"/>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9744"/>
            <a:ext cx="91440"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809744"/>
            <a:ext cx="3291840" cy="525780"/>
          </a:xfrm>
          <a:prstGeom prst="rect">
            <a:avLst/>
          </a:prstGeom>
          <a:noFill/>
        </p:spPr>
        <p:txBody>
          <a:bodyPr wrap="square" anchor="ctr">
            <a:spAutoFit/>
          </a:bodyPr>
          <a:lstStyle/>
          <a:p>
            <a:pPr algn="l">
              <a:spcAft>
                <a:spcPts val="400"/>
              </a:spcAft>
            </a:pPr>
            <a:r>
              <a:rPr sz="1500" b="1">
                <a:solidFill>
                  <a:srgbClr val="1F6FEB"/>
                </a:solidFill>
                <a:latin typeface="Arial"/>
              </a:rPr>
              <a:t>Return on Capital Employed</a:t>
            </a:r>
          </a:p>
        </p:txBody>
      </p:sp>
      <p:sp>
        <p:nvSpPr>
          <p:cNvPr id="30" name="TextBox 29"/>
          <p:cNvSpPr txBox="1"/>
          <p:nvPr/>
        </p:nvSpPr>
        <p:spPr>
          <a:xfrm>
            <a:off x="4480560" y="4809744"/>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Net Operating Profit / Capital Employed</a:t>
            </a:r>
          </a:p>
        </p:txBody>
      </p:sp>
      <p:sp>
        <p:nvSpPr>
          <p:cNvPr id="31" name="TextBox 30"/>
          <p:cNvSpPr txBox="1"/>
          <p:nvPr/>
        </p:nvSpPr>
        <p:spPr>
          <a:xfrm>
            <a:off x="8641080" y="4809744"/>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Includes long-term finance</a:t>
            </a:r>
          </a:p>
        </p:txBody>
      </p:sp>
      <p:sp>
        <p:nvSpPr>
          <p:cNvPr id="32" name="Rectangle 31"/>
          <p:cNvSpPr/>
          <p:nvPr/>
        </p:nvSpPr>
        <p:spPr>
          <a:xfrm>
            <a:off x="777240" y="5554980"/>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54980"/>
            <a:ext cx="91440" cy="5257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5554980"/>
            <a:ext cx="3291840" cy="525780"/>
          </a:xfrm>
          <a:prstGeom prst="rect">
            <a:avLst/>
          </a:prstGeom>
          <a:noFill/>
        </p:spPr>
        <p:txBody>
          <a:bodyPr wrap="square" anchor="ctr">
            <a:spAutoFit/>
          </a:bodyPr>
          <a:lstStyle/>
          <a:p>
            <a:pPr algn="l">
              <a:spcAft>
                <a:spcPts val="400"/>
              </a:spcAft>
            </a:pPr>
            <a:r>
              <a:rPr sz="1500" b="1">
                <a:solidFill>
                  <a:srgbClr val="10B981"/>
                </a:solidFill>
                <a:latin typeface="Arial"/>
              </a:rPr>
              <a:t>Return on Equity</a:t>
            </a:r>
          </a:p>
        </p:txBody>
      </p:sp>
      <p:sp>
        <p:nvSpPr>
          <p:cNvPr id="35" name="TextBox 34"/>
          <p:cNvSpPr txBox="1"/>
          <p:nvPr/>
        </p:nvSpPr>
        <p:spPr>
          <a:xfrm>
            <a:off x="4480560" y="5554980"/>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Net Income / Average Shareholders' Equity</a:t>
            </a:r>
          </a:p>
        </p:txBody>
      </p:sp>
      <p:sp>
        <p:nvSpPr>
          <p:cNvPr id="36" name="TextBox 35"/>
          <p:cNvSpPr txBox="1"/>
          <p:nvPr/>
        </p:nvSpPr>
        <p:spPr>
          <a:xfrm>
            <a:off x="8641080" y="5554980"/>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The owners' return on new investment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INTERPRETATION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Reading the Profitability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Higher ratios are more favourable — they reflect the ability to generate earnings.</a:t>
            </a:r>
          </a:p>
          <a:p>
            <a:pPr>
              <a:spcAft>
                <a:spcPts val="1000"/>
              </a:spcAft>
            </a:pPr>
            <a:r>
              <a:rPr sz="1700" b="0">
                <a:solidFill>
                  <a:srgbClr val="161B26"/>
                </a:solidFill>
                <a:latin typeface="Arial"/>
              </a:rPr>
              <a:t>•  Compare only within the same industry: asset-heavy industries naturally show lower ROA.</a:t>
            </a:r>
          </a:p>
          <a:p>
            <a:pPr>
              <a:spcAft>
                <a:spcPts val="1000"/>
              </a:spcAft>
            </a:pPr>
            <a:r>
              <a:rPr sz="1700" b="0">
                <a:solidFill>
                  <a:srgbClr val="161B26"/>
                </a:solidFill>
                <a:latin typeface="Arial"/>
              </a:rPr>
              <a:t>•  A rising ROA / ROE trend means profitability is improving; a falling trend means it is deteriorating.</a:t>
            </a:r>
          </a:p>
          <a:p>
            <a:pPr>
              <a:spcAft>
                <a:spcPts val="1000"/>
              </a:spcAft>
            </a:pPr>
            <a:r>
              <a:rPr sz="1700" b="0">
                <a:solidFill>
                  <a:srgbClr val="161B26"/>
                </a:solidFill>
                <a:latin typeface="Arial"/>
              </a:rPr>
              <a:t>•  ROE can be manipulated with debt — never rely on ROE alone for investment decisions.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COMPANY A VS COMPANY 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 Profit Ratio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et-profit-ratio-example.png"/>
          <p:cNvPicPr>
            <a:picLocks noChangeAspect="1"/>
          </p:cNvPicPr>
          <p:nvPr/>
        </p:nvPicPr>
        <p:blipFill>
          <a:blip r:embed="rId2"/>
          <a:stretch>
            <a:fillRect/>
          </a:stretch>
        </p:blipFill>
        <p:spPr>
          <a:xfrm>
            <a:off x="792327" y="2060666"/>
            <a:ext cx="10607040" cy="3788228"/>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Net profit over net sales: Company A 26% vs Company B 25%.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PER-SHARE PROFITABILITY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Earnings Per Share (EPS)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1">
                <a:solidFill>
                  <a:srgbClr val="161B26"/>
                </a:solidFill>
                <a:latin typeface="Arial"/>
              </a:rPr>
              <a:t>•  EPS = (Net Income − Preferred Dividends) / Weighted Average Common Shares</a:t>
            </a:r>
          </a:p>
          <a:p>
            <a:pPr>
              <a:spcAft>
                <a:spcPts val="1000"/>
              </a:spcAft>
            </a:pPr>
            <a:r>
              <a:rPr sz="1500" b="0">
                <a:solidFill>
                  <a:srgbClr val="161B26"/>
                </a:solidFill>
                <a:latin typeface="Arial"/>
              </a:rPr>
              <a:t>•  Standardises earnings by the number of shares outstanding.</a:t>
            </a:r>
          </a:p>
          <a:p>
            <a:pPr>
              <a:spcAft>
                <a:spcPts val="1000"/>
              </a:spcAft>
            </a:pPr>
            <a:r>
              <a:rPr sz="1500" b="0">
                <a:solidFill>
                  <a:srgbClr val="161B26"/>
                </a:solidFill>
                <a:latin typeface="Arial"/>
              </a:rPr>
              <a:t>•  Not comparable alone — different companies have different share counts.</a:t>
            </a:r>
          </a:p>
          <a:p>
            <a:pPr>
              <a:spcAft>
                <a:spcPts val="1000"/>
              </a:spcAft>
            </a:pPr>
            <a:r>
              <a:rPr sz="1500" b="0">
                <a:solidFill>
                  <a:srgbClr val="161B26"/>
                </a:solidFill>
                <a:latin typeface="Arial"/>
              </a:rPr>
              <a:t>•  Feeds the price-to-earnings (P/E) ratio used by investors.</a:t>
            </a:r>
          </a:p>
        </p:txBody>
      </p:sp>
      <p:pic>
        <p:nvPicPr>
          <p:cNvPr id="8" name="Picture 7" descr="eps-example.png"/>
          <p:cNvPicPr>
            <a:picLocks noChangeAspect="1"/>
          </p:cNvPicPr>
          <p:nvPr/>
        </p:nvPicPr>
        <p:blipFill>
          <a:blip r:embed="rId2"/>
          <a:stretch>
            <a:fillRect/>
          </a:stretch>
        </p:blipFill>
        <p:spPr>
          <a:xfrm>
            <a:off x="6126480" y="3251636"/>
            <a:ext cx="5486400" cy="136056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PUTTING IT TOGETHER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Measuring Profitability — Sample Company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1">
                <a:solidFill>
                  <a:srgbClr val="161B26"/>
                </a:solidFill>
                <a:latin typeface="Arial"/>
              </a:rPr>
              <a:t>•  Gross Margin: 37.50%</a:t>
            </a:r>
          </a:p>
          <a:p>
            <a:pPr>
              <a:spcAft>
                <a:spcPts val="1000"/>
              </a:spcAft>
            </a:pPr>
            <a:r>
              <a:rPr sz="1500" b="1">
                <a:solidFill>
                  <a:srgbClr val="161B26"/>
                </a:solidFill>
                <a:latin typeface="Arial"/>
              </a:rPr>
              <a:t>•  Operating Margin: 26.67%</a:t>
            </a:r>
          </a:p>
          <a:p>
            <a:pPr>
              <a:spcAft>
                <a:spcPts val="1000"/>
              </a:spcAft>
            </a:pPr>
            <a:r>
              <a:rPr sz="1500" b="1">
                <a:solidFill>
                  <a:srgbClr val="161B26"/>
                </a:solidFill>
                <a:latin typeface="Arial"/>
              </a:rPr>
              <a:t>•  Net Profit Margin: 16.67%</a:t>
            </a:r>
          </a:p>
          <a:p>
            <a:pPr>
              <a:spcAft>
                <a:spcPts val="1000"/>
              </a:spcAft>
            </a:pPr>
            <a:r>
              <a:rPr sz="1500" b="1">
                <a:solidFill>
                  <a:srgbClr val="161B26"/>
                </a:solidFill>
                <a:latin typeface="Arial"/>
              </a:rPr>
              <a:t>•  Return on Equity: 9.09%</a:t>
            </a:r>
          </a:p>
          <a:p>
            <a:pPr>
              <a:spcAft>
                <a:spcPts val="1000"/>
              </a:spcAft>
            </a:pPr>
            <a:r>
              <a:rPr sz="1500" b="1">
                <a:solidFill>
                  <a:srgbClr val="161B26"/>
                </a:solidFill>
                <a:latin typeface="Arial"/>
              </a:rPr>
              <a:t>•  Return on Assets: 4%</a:t>
            </a:r>
          </a:p>
          <a:p>
            <a:pPr>
              <a:spcAft>
                <a:spcPts val="1000"/>
              </a:spcAft>
            </a:pPr>
            <a:r>
              <a:rPr sz="1500" b="0">
                <a:solidFill>
                  <a:srgbClr val="161B26"/>
                </a:solidFill>
                <a:latin typeface="Arial"/>
              </a:rPr>
              <a:t>•  Derived from the sample balance sheet and income statement shown.</a:t>
            </a:r>
          </a:p>
        </p:txBody>
      </p:sp>
      <p:pic>
        <p:nvPicPr>
          <p:cNvPr id="8" name="Picture 7" descr="sample-company-statements.png"/>
          <p:cNvPicPr>
            <a:picLocks noChangeAspect="1"/>
          </p:cNvPicPr>
          <p:nvPr/>
        </p:nvPicPr>
        <p:blipFill>
          <a:blip r:embed="rId2"/>
          <a:stretch>
            <a:fillRect/>
          </a:stretch>
        </p:blipFill>
        <p:spPr>
          <a:xfrm>
            <a:off x="6847449" y="1828800"/>
            <a:ext cx="4044461"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 · EQUITY CHANGES STATEMENT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Statement of Changes in Equity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Also called the statement of retained earnings — reconciles opening to closing equity.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equation</a:t>
            </a:r>
          </a:p>
          <a:p>
            <a:pPr algn="l">
              <a:spcAft>
                <a:spcPts val="300"/>
              </a:spcAft>
            </a:pPr>
            <a:r>
              <a:rPr sz="1100" b="0">
                <a:solidFill>
                  <a:srgbClr val="5B6372"/>
                </a:solidFill>
                <a:latin typeface="Arial"/>
              </a:rPr>
              <a:t>Beginning Equity + Net Income − Dividends ± Other changes = Ending Equity.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Components</a:t>
            </a:r>
          </a:p>
          <a:p>
            <a:pPr algn="l">
              <a:spcAft>
                <a:spcPts val="300"/>
              </a:spcAft>
            </a:pPr>
            <a:r>
              <a:rPr sz="1100" b="0">
                <a:solidFill>
                  <a:srgbClr val="5B6372"/>
                </a:solidFill>
                <a:latin typeface="Arial"/>
              </a:rPr>
              <a:t>Opening balance · policy changes · prior-period corrections · restated balance.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More components</a:t>
            </a:r>
          </a:p>
          <a:p>
            <a:pPr algn="l">
              <a:spcAft>
                <a:spcPts val="300"/>
              </a:spcAft>
            </a:pPr>
            <a:r>
              <a:rPr sz="1100" b="0">
                <a:solidFill>
                  <a:srgbClr val="5B6372"/>
                </a:solidFill>
                <a:latin typeface="Arial"/>
              </a:rPr>
              <a:t>Changes in share capital · dividends · income/loss · revaluation reserve · other gains and losses.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ONE-PAGE CHEAT SHEET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Summary of All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Liquidity &amp; Leverage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Efficiency &amp; Profitability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Liquidity</a:t>
            </a:r>
          </a:p>
          <a:p>
            <a:pPr>
              <a:spcAft>
                <a:spcPts val="1000"/>
              </a:spcAft>
            </a:pPr>
            <a:r>
              <a:rPr sz="1400" b="0">
                <a:solidFill>
                  <a:srgbClr val="5B6372"/>
                </a:solidFill>
                <a:latin typeface="Arial"/>
              </a:rPr>
              <a:t>–  Current = CA / CL</a:t>
            </a:r>
          </a:p>
          <a:p>
            <a:pPr>
              <a:spcAft>
                <a:spcPts val="1000"/>
              </a:spcAft>
            </a:pPr>
            <a:r>
              <a:rPr sz="1400" b="0">
                <a:solidFill>
                  <a:srgbClr val="5B6372"/>
                </a:solidFill>
                <a:latin typeface="Arial"/>
              </a:rPr>
              <a:t>–  Acid test = (CA − Inventories) / CL</a:t>
            </a:r>
          </a:p>
          <a:p>
            <a:pPr>
              <a:spcAft>
                <a:spcPts val="1000"/>
              </a:spcAft>
            </a:pPr>
            <a:r>
              <a:rPr sz="1400" b="0">
                <a:solidFill>
                  <a:srgbClr val="5B6372"/>
                </a:solidFill>
                <a:latin typeface="Arial"/>
              </a:rPr>
              <a:t>–  Cash = Cash &amp; equivalents / CL</a:t>
            </a:r>
          </a:p>
          <a:p>
            <a:pPr>
              <a:spcAft>
                <a:spcPts val="1000"/>
              </a:spcAft>
            </a:pPr>
            <a:r>
              <a:rPr sz="1400" b="0">
                <a:solidFill>
                  <a:srgbClr val="5B6372"/>
                </a:solidFill>
                <a:latin typeface="Arial"/>
              </a:rPr>
              <a:t>–  Operating CF = OCF / CL</a:t>
            </a:r>
          </a:p>
          <a:p>
            <a:pPr>
              <a:spcAft>
                <a:spcPts val="1000"/>
              </a:spcAft>
            </a:pPr>
            <a:r>
              <a:rPr sz="1600" b="0">
                <a:solidFill>
                  <a:srgbClr val="161B26"/>
                </a:solidFill>
                <a:latin typeface="Arial"/>
              </a:rPr>
              <a:t>•  Leverage</a:t>
            </a:r>
          </a:p>
          <a:p>
            <a:pPr>
              <a:spcAft>
                <a:spcPts val="1000"/>
              </a:spcAft>
            </a:pPr>
            <a:r>
              <a:rPr sz="1400" b="0">
                <a:solidFill>
                  <a:srgbClr val="5B6372"/>
                </a:solidFill>
                <a:latin typeface="Arial"/>
              </a:rPr>
              <a:t>–  Debt = Total liabilities / Total assets</a:t>
            </a:r>
          </a:p>
          <a:p>
            <a:pPr>
              <a:spcAft>
                <a:spcPts val="1000"/>
              </a:spcAft>
            </a:pPr>
            <a:r>
              <a:rPr sz="1400" b="0">
                <a:solidFill>
                  <a:srgbClr val="5B6372"/>
                </a:solidFill>
                <a:latin typeface="Arial"/>
              </a:rPr>
              <a:t>–  Debt-to-equity = Total liabilities / Equity</a:t>
            </a:r>
          </a:p>
          <a:p>
            <a:pPr>
              <a:spcAft>
                <a:spcPts val="1000"/>
              </a:spcAft>
            </a:pPr>
            <a:r>
              <a:rPr sz="1400" b="0">
                <a:solidFill>
                  <a:srgbClr val="5B6372"/>
                </a:solidFill>
                <a:latin typeface="Arial"/>
              </a:rPr>
              <a:t>–  Debt service coverage = Op. income / Debt service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Efficiency</a:t>
            </a:r>
          </a:p>
          <a:p>
            <a:pPr>
              <a:spcAft>
                <a:spcPts val="1000"/>
              </a:spcAft>
            </a:pPr>
            <a:r>
              <a:rPr sz="1400" b="0">
                <a:solidFill>
                  <a:srgbClr val="5B6372"/>
                </a:solidFill>
                <a:latin typeface="Arial"/>
              </a:rPr>
              <a:t>–  Asset turnover = Net sales / Avg total assets</a:t>
            </a:r>
          </a:p>
          <a:p>
            <a:pPr>
              <a:spcAft>
                <a:spcPts val="1000"/>
              </a:spcAft>
            </a:pPr>
            <a:r>
              <a:rPr sz="1400" b="0">
                <a:solidFill>
                  <a:srgbClr val="5B6372"/>
                </a:solidFill>
                <a:latin typeface="Arial"/>
              </a:rPr>
              <a:t>–  Inventory turnover = COGS / Avg inventory</a:t>
            </a:r>
          </a:p>
          <a:p>
            <a:pPr>
              <a:spcAft>
                <a:spcPts val="1000"/>
              </a:spcAft>
            </a:pPr>
            <a:r>
              <a:rPr sz="1400" b="0">
                <a:solidFill>
                  <a:srgbClr val="5B6372"/>
                </a:solidFill>
                <a:latin typeface="Arial"/>
              </a:rPr>
              <a:t>–  Receivables turnover = Net sales / Avg AR</a:t>
            </a:r>
          </a:p>
          <a:p>
            <a:pPr>
              <a:spcAft>
                <a:spcPts val="1000"/>
              </a:spcAft>
            </a:pPr>
            <a:r>
              <a:rPr sz="1400" b="0">
                <a:solidFill>
                  <a:srgbClr val="5B6372"/>
                </a:solidFill>
                <a:latin typeface="Arial"/>
              </a:rPr>
              <a:t>–  Payables turnover = Net purchases / Avg AP</a:t>
            </a:r>
          </a:p>
          <a:p>
            <a:pPr>
              <a:spcAft>
                <a:spcPts val="1000"/>
              </a:spcAft>
            </a:pPr>
            <a:r>
              <a:rPr sz="1600" b="0">
                <a:solidFill>
                  <a:srgbClr val="161B26"/>
                </a:solidFill>
                <a:latin typeface="Arial"/>
              </a:rPr>
              <a:t>•  Profitability</a:t>
            </a:r>
          </a:p>
          <a:p>
            <a:pPr>
              <a:spcAft>
                <a:spcPts val="1000"/>
              </a:spcAft>
            </a:pPr>
            <a:r>
              <a:rPr sz="1400" b="0">
                <a:solidFill>
                  <a:srgbClr val="5B6372"/>
                </a:solidFill>
                <a:latin typeface="Arial"/>
              </a:rPr>
              <a:t>–  Gross margin = Gross profit / Net sales</a:t>
            </a:r>
          </a:p>
          <a:p>
            <a:pPr>
              <a:spcAft>
                <a:spcPts val="1000"/>
              </a:spcAft>
            </a:pPr>
            <a:r>
              <a:rPr sz="1400" b="0">
                <a:solidFill>
                  <a:srgbClr val="5B6372"/>
                </a:solidFill>
                <a:latin typeface="Arial"/>
              </a:rPr>
              <a:t>–  Operating margin = EBIT / Net sales · Net margin = NI / Net sales</a:t>
            </a:r>
          </a:p>
          <a:p>
            <a:pPr>
              <a:spcAft>
                <a:spcPts val="1000"/>
              </a:spcAft>
            </a:pPr>
            <a:r>
              <a:rPr sz="1400" b="0">
                <a:solidFill>
                  <a:srgbClr val="5B6372"/>
                </a:solidFill>
                <a:latin typeface="Arial"/>
              </a:rPr>
              <a:t>–  ROE = NI / Equity · ROA = NI / Total assets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Ratio Analysis of Two Companies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Orchid Logistics Pte Ltd (Company X) and Marina Retail Group Pte Ltd (Company Y) are two fictitious SMEs. From their FY2025 balance sheets and income statements, compute the liquidity, profitability, turnover and solvency ratios for both companies and give a one-line verdict per ratio family on which company performs better.</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 completed ratio-analysis worksheet comparing Company X and Company Y across four ratio families, with a one-line verdict per ratio.</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FA-Activity-02-Ratio-Analysis.xlsx in activities/activity02</a:t>
            </a:r>
          </a:p>
          <a:p>
            <a:pPr algn="l">
              <a:spcAft>
                <a:spcPts val="300"/>
              </a:spcAft>
            </a:pPr>
            <a:r>
              <a:rPr sz="1200" b="1">
                <a:solidFill>
                  <a:srgbClr val="10B981"/>
                </a:solidFill>
                <a:latin typeface="Arial"/>
              </a:rPr>
              <a:t>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Analysis over Four Years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Sunrise F&amp;B Holdings Pte Ltd is a fictitious cafe-chain SME. From four years (FY2018–FY2021) of balance sheets and income statements, compute year-on-year growth for every line, derive the key ratios for each year, and present your observations on where the business is heading.</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 completed trend-analysis template: YoY growth for every balance-sheet and income-statement line plus a four-year ratio table with your observations.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FA-Activity-03-Trend-Analysis.xlsx in activities/activity03</a:t>
            </a:r>
          </a:p>
          <a:p>
            <a:pPr algn="l">
              <a:spcAft>
                <a:spcPts val="300"/>
              </a:spcAft>
            </a:pPr>
            <a:r>
              <a:rPr sz="1200" b="1">
                <a:solidFill>
                  <a:srgbClr val="10B981"/>
                </a:solidFill>
                <a:latin typeface="Arial"/>
              </a:rPr>
              <a:t>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Analysing Financial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Liquidity, leverage, efficiency and profitability — the four ratio families.</a:t>
            </a:r>
          </a:p>
          <a:p>
            <a:pPr>
              <a:spcAft>
                <a:spcPts val="1000"/>
              </a:spcAft>
            </a:pPr>
            <a:r>
              <a:rPr sz="1700" b="0">
                <a:solidFill>
                  <a:srgbClr val="161B26"/>
                </a:solidFill>
                <a:latin typeface="Arial"/>
              </a:rPr>
              <a:t>•  Every ratio needs a benchmark: industry, competitor or the company's own trend.</a:t>
            </a:r>
          </a:p>
          <a:p>
            <a:pPr>
              <a:spcAft>
                <a:spcPts val="1000"/>
              </a:spcAft>
            </a:pPr>
            <a:r>
              <a:rPr sz="1700" b="0">
                <a:solidFill>
                  <a:srgbClr val="161B26"/>
                </a:solidFill>
                <a:latin typeface="Arial"/>
              </a:rPr>
              <a:t>•  The statement of changes in equity reconciles opening to closing equity.</a:t>
            </a:r>
          </a:p>
          <a:p>
            <a:pPr>
              <a:spcAft>
                <a:spcPts val="1000"/>
              </a:spcAft>
            </a:pPr>
            <a:r>
              <a:rPr sz="1700" b="0">
                <a:solidFill>
                  <a:srgbClr val="161B26"/>
                </a:solidFill>
                <a:latin typeface="Arial"/>
              </a:rPr>
              <a:t>•  You compared two companies ratio-by-ratio and ran a four-year trend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Planning &amp; Budgeting using Financial Statements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Analyse Financial Statements · Financial Planning · Capital Budgeting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K5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Planning &amp; Budgeting using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Budgeting</a:t>
            </a:r>
          </a:p>
          <a:p>
            <a:pPr algn="l">
              <a:spcAft>
                <a:spcPts val="300"/>
              </a:spcAft>
            </a:pPr>
            <a:r>
              <a:rPr sz="1200" b="0">
                <a:solidFill>
                  <a:srgbClr val="5B6372"/>
                </a:solidFill>
                <a:latin typeface="Arial"/>
              </a:rPr>
              <a:t>Baseline, incremental, zero-based and hybrid budgets — planning income vs spending.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Capital budgeting</a:t>
            </a:r>
          </a:p>
          <a:p>
            <a:pPr algn="l">
              <a:spcAft>
                <a:spcPts val="300"/>
              </a:spcAft>
            </a:pPr>
            <a:r>
              <a:rPr sz="1200" b="0">
                <a:solidFill>
                  <a:srgbClr val="5B6372"/>
                </a:solidFill>
                <a:latin typeface="Arial"/>
              </a:rPr>
              <a:t>Payback, discounted payback, NPV, PI and IRR — evaluating long-term investments.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 value of money</a:t>
            </a:r>
          </a:p>
          <a:p>
            <a:pPr algn="l">
              <a:spcAft>
                <a:spcPts val="300"/>
              </a:spcAft>
            </a:pPr>
            <a:r>
              <a:rPr sz="1200" b="0">
                <a:solidFill>
                  <a:srgbClr val="5B6372"/>
                </a:solidFill>
                <a:latin typeface="Arial"/>
              </a:rPr>
              <a:t>PV = FV / (1+i)^n — a dollar today is worth more than a dollar tomorrow.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Forecast &amp; variance</a:t>
            </a:r>
          </a:p>
          <a:p>
            <a:pPr algn="l">
              <a:spcAft>
                <a:spcPts val="300"/>
              </a:spcAft>
            </a:pPr>
            <a:r>
              <a:rPr sz="1200" b="0">
                <a:solidFill>
                  <a:srgbClr val="5B6372"/>
                </a:solidFill>
                <a:latin typeface="Arial"/>
              </a:rPr>
              <a:t>Budget vs actual vs forecast — favourable and adverse variances, thresholds.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Financial health</a:t>
            </a:r>
          </a:p>
          <a:p>
            <a:pPr algn="l">
              <a:spcAft>
                <a:spcPts val="300"/>
              </a:spcAft>
            </a:pPr>
            <a:r>
              <a:rPr sz="1200" b="0">
                <a:solidFill>
                  <a:srgbClr val="5B6372"/>
                </a:solidFill>
                <a:latin typeface="Arial"/>
              </a:rPr>
              <a:t>Read the balance sheet, income and cash flow statements together, then ratio-check.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Analysis methods</a:t>
            </a:r>
          </a:p>
          <a:p>
            <a:pPr algn="l">
              <a:spcAft>
                <a:spcPts val="300"/>
              </a:spcAft>
            </a:pPr>
            <a:r>
              <a:rPr sz="1200" b="0">
                <a:solidFill>
                  <a:srgbClr val="5B6372"/>
                </a:solidFill>
                <a:latin typeface="Arial"/>
              </a:rPr>
              <a:t>Ratio, horizontal (trend) and vertical analysis, plus industry benchmarking (A2).</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BUDGET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Budgeting is balancing your expenses with your income —</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by creating a plan to spend your money. To balance a budget you have two levers: increase income or decrease spending.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EXPENSES · INCOME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Components of a Budget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Fixed expenses</a:t>
            </a:r>
          </a:p>
          <a:p>
            <a:pPr algn="l">
              <a:spcAft>
                <a:spcPts val="300"/>
              </a:spcAft>
            </a:pPr>
            <a:r>
              <a:rPr sz="1100" b="0">
                <a:solidFill>
                  <a:srgbClr val="5B6372"/>
                </a:solidFill>
                <a:latin typeface="Arial"/>
              </a:rPr>
              <a:t>Stay the same month to month — e.g. rent payments.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Flexible expenses</a:t>
            </a:r>
          </a:p>
          <a:p>
            <a:pPr algn="l">
              <a:spcAft>
                <a:spcPts val="300"/>
              </a:spcAft>
            </a:pPr>
            <a:r>
              <a:rPr sz="1100" b="0">
                <a:solidFill>
                  <a:srgbClr val="5B6372"/>
                </a:solidFill>
                <a:latin typeface="Arial"/>
              </a:rPr>
              <a:t>Change month to month — e.g. utilities.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Capital vs operating</a:t>
            </a:r>
          </a:p>
          <a:p>
            <a:pPr algn="l">
              <a:spcAft>
                <a:spcPts val="300"/>
              </a:spcAft>
            </a:pPr>
            <a:r>
              <a:rPr sz="1100" b="0">
                <a:solidFill>
                  <a:srgbClr val="5B6372"/>
                </a:solidFill>
                <a:latin typeface="Arial"/>
              </a:rPr>
              <a:t>Capital expenses buy long-term assets; operating expenses run the business.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Total income</a:t>
            </a:r>
          </a:p>
          <a:p>
            <a:pPr algn="l">
              <a:spcAft>
                <a:spcPts val="300"/>
              </a:spcAft>
            </a:pPr>
            <a:r>
              <a:rPr sz="1100" b="0">
                <a:solidFill>
                  <a:srgbClr val="5B6372"/>
                </a:solidFill>
                <a:latin typeface="Arial"/>
              </a:rPr>
              <a:t>Income from operations and other sources — investments, rentals and more.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Disposable income</a:t>
            </a:r>
          </a:p>
          <a:p>
            <a:pPr algn="l">
              <a:spcAft>
                <a:spcPts val="300"/>
              </a:spcAft>
            </a:pPr>
            <a:r>
              <a:rPr sz="1100" b="0">
                <a:solidFill>
                  <a:srgbClr val="5B6372"/>
                </a:solidFill>
                <a:latin typeface="Arial"/>
              </a:rPr>
              <a:t>What is left after taxes are subtracted.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Variance</a:t>
            </a:r>
          </a:p>
          <a:p>
            <a:pPr algn="l">
              <a:spcAft>
                <a:spcPts val="300"/>
              </a:spcAft>
            </a:pPr>
            <a:r>
              <a:rPr sz="1100" b="0">
                <a:solidFill>
                  <a:srgbClr val="5B6372"/>
                </a:solidFill>
                <a:latin typeface="Arial"/>
              </a:rPr>
              <a:t>The gap between the plan and the actual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APPROACHES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Broad Budgeting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Baseline budget</a:t>
            </a:r>
          </a:p>
          <a:p>
            <a:pPr algn="l">
              <a:spcAft>
                <a:spcPts val="300"/>
              </a:spcAft>
            </a:pPr>
            <a:r>
              <a:rPr sz="1200" b="0">
                <a:solidFill>
                  <a:srgbClr val="5B6372"/>
                </a:solidFill>
                <a:latin typeface="Arial"/>
              </a:rPr>
              <a:t>Begins with a previous plan as the baseline.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Incremental budget</a:t>
            </a:r>
          </a:p>
          <a:p>
            <a:pPr algn="l">
              <a:spcAft>
                <a:spcPts val="300"/>
              </a:spcAft>
            </a:pPr>
            <a:r>
              <a:rPr sz="1200" b="0">
                <a:solidFill>
                  <a:srgbClr val="5B6372"/>
                </a:solidFill>
                <a:latin typeface="Arial"/>
              </a:rPr>
              <a:t>A % or $ increment on the previous baseline.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Zero-based budget</a:t>
            </a:r>
          </a:p>
          <a:p>
            <a:pPr algn="l">
              <a:spcAft>
                <a:spcPts val="300"/>
              </a:spcAft>
            </a:pPr>
            <a:r>
              <a:rPr sz="1200" b="0">
                <a:solidFill>
                  <a:srgbClr val="5B6372"/>
                </a:solidFill>
                <a:latin typeface="Arial"/>
              </a:rPr>
              <a:t>Starts fresh, like a brand-new plan.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Hybrid budget</a:t>
            </a:r>
          </a:p>
          <a:p>
            <a:pPr algn="l">
              <a:spcAft>
                <a:spcPts val="300"/>
              </a:spcAft>
            </a:pPr>
            <a:r>
              <a:rPr sz="1200" b="0">
                <a:solidFill>
                  <a:srgbClr val="5B6372"/>
                </a:solidFill>
                <a:latin typeface="Arial"/>
              </a:rPr>
              <a:t>A combination of any of the above.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TERMS YOU WILL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Budgeting Vocabulary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Fiscal year · budget communications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Budget targets · budget guidelines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Annual plan · budget review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Board review · approved plan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Forecast · actual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Variance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BUDGET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Budgeting — Objectives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Provides clear structure, guidance and a basis for the action plan.</a:t>
            </a:r>
          </a:p>
          <a:p>
            <a:pPr>
              <a:spcAft>
                <a:spcPts val="1000"/>
              </a:spcAft>
            </a:pPr>
            <a:r>
              <a:rPr sz="1600" b="0">
                <a:solidFill>
                  <a:srgbClr val="161B26"/>
                </a:solidFill>
                <a:latin typeface="Arial"/>
              </a:rPr>
              <a:t>•  Predicts expected cash flows and allocates resources to the right activities.</a:t>
            </a:r>
          </a:p>
          <a:p>
            <a:pPr>
              <a:spcAft>
                <a:spcPts val="1000"/>
              </a:spcAft>
            </a:pPr>
            <a:r>
              <a:rPr sz="1600" b="0">
                <a:solidFill>
                  <a:srgbClr val="161B26"/>
                </a:solidFill>
                <a:latin typeface="Arial"/>
              </a:rPr>
              <a:t>•  Lets management prioritise projects and model scenarios — worst, median, best and custom cases.</a:t>
            </a:r>
          </a:p>
          <a:p>
            <a:pPr>
              <a:spcAft>
                <a:spcPts val="1000"/>
              </a:spcAft>
            </a:pPr>
            <a:r>
              <a:rPr sz="1600" b="0">
                <a:solidFill>
                  <a:srgbClr val="161B26"/>
                </a:solidFill>
                <a:latin typeface="Arial"/>
              </a:rPr>
              <a:t>•  Measures actual performance against the approved plan and analyses the causes of variances.</a:t>
            </a:r>
          </a:p>
          <a:p>
            <a:pPr>
              <a:spcAft>
                <a:spcPts val="1000"/>
              </a:spcAft>
            </a:pPr>
            <a:r>
              <a:rPr sz="1600" b="0">
                <a:solidFill>
                  <a:srgbClr val="161B26"/>
                </a:solidFill>
                <a:latin typeface="Arial"/>
              </a:rPr>
              <a:t>•  Ensures control over spending and mandates responsibility and accountability.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MAKING BUDGETS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Budgeting — Advantages &amp; Success Factors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Advantages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Success factors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Advantages</a:t>
            </a:r>
          </a:p>
          <a:p>
            <a:pPr>
              <a:spcAft>
                <a:spcPts val="1000"/>
              </a:spcAft>
            </a:pPr>
            <a:r>
              <a:rPr sz="1400" b="0">
                <a:solidFill>
                  <a:srgbClr val="5B6372"/>
                </a:solidFill>
                <a:latin typeface="Arial"/>
              </a:rPr>
              <a:t>–  Planning orientation and profitability review</a:t>
            </a:r>
          </a:p>
          <a:p>
            <a:pPr>
              <a:spcAft>
                <a:spcPts val="1000"/>
              </a:spcAft>
            </a:pPr>
            <a:r>
              <a:rPr sz="1400" b="0">
                <a:solidFill>
                  <a:srgbClr val="5B6372"/>
                </a:solidFill>
                <a:latin typeface="Arial"/>
              </a:rPr>
              <a:t>–  Assumptions review and performance evaluation</a:t>
            </a:r>
          </a:p>
          <a:p>
            <a:pPr>
              <a:spcAft>
                <a:spcPts val="1000"/>
              </a:spcAft>
            </a:pPr>
            <a:r>
              <a:rPr sz="1400" b="0">
                <a:solidFill>
                  <a:srgbClr val="5B6372"/>
                </a:solidFill>
                <a:latin typeface="Arial"/>
              </a:rPr>
              <a:t>–  Funding planning and cash allocation</a:t>
            </a:r>
          </a:p>
          <a:p>
            <a:pPr>
              <a:spcAft>
                <a:spcPts val="1000"/>
              </a:spcAft>
            </a:pPr>
            <a:r>
              <a:rPr sz="1400" b="0">
                <a:solidFill>
                  <a:srgbClr val="5B6372"/>
                </a:solidFill>
                <a:latin typeface="Arial"/>
              </a:rPr>
              <a:t>–  Bottleneck analysis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Success factors</a:t>
            </a:r>
          </a:p>
          <a:p>
            <a:pPr>
              <a:spcAft>
                <a:spcPts val="1000"/>
              </a:spcAft>
            </a:pPr>
            <a:r>
              <a:rPr sz="1400" b="0">
                <a:solidFill>
                  <a:srgbClr val="5B6372"/>
                </a:solidFill>
                <a:latin typeface="Arial"/>
              </a:rPr>
              <a:t>–  Management support and employee involvement</a:t>
            </a:r>
          </a:p>
          <a:p>
            <a:pPr>
              <a:spcAft>
                <a:spcPts val="1000"/>
              </a:spcAft>
            </a:pPr>
            <a:r>
              <a:rPr sz="1400" b="0">
                <a:solidFill>
                  <a:srgbClr val="5B6372"/>
                </a:solidFill>
                <a:latin typeface="Arial"/>
              </a:rPr>
              <a:t>–  Clear organisational goals and responsibility accounting</a:t>
            </a:r>
          </a:p>
          <a:p>
            <a:pPr>
              <a:spcAft>
                <a:spcPts val="1000"/>
              </a:spcAft>
            </a:pPr>
            <a:r>
              <a:rPr sz="1400" b="0">
                <a:solidFill>
                  <a:srgbClr val="5B6372"/>
                </a:solidFill>
                <a:latin typeface="Arial"/>
              </a:rPr>
              <a:t>–  Sound accounting system and organisational structure</a:t>
            </a:r>
          </a:p>
          <a:p>
            <a:pPr>
              <a:spcAft>
                <a:spcPts val="1000"/>
              </a:spcAft>
            </a:pPr>
            <a:r>
              <a:rPr sz="1400" b="0">
                <a:solidFill>
                  <a:srgbClr val="5B6372"/>
                </a:solidFill>
                <a:latin typeface="Arial"/>
              </a:rPr>
              <a:t>–  Flexibility and communication of results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STAKEHOLDER INPUT TO MONITORING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Budgeting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udget-process.jpg"/>
          <p:cNvPicPr>
            <a:picLocks noChangeAspect="1"/>
          </p:cNvPicPr>
          <p:nvPr/>
        </p:nvPicPr>
        <p:blipFill>
          <a:blip r:embed="rId2"/>
          <a:stretch>
            <a:fillRect/>
          </a:stretch>
        </p:blipFill>
        <p:spPr>
          <a:xfrm>
            <a:off x="3783889" y="1783080"/>
            <a:ext cx="4623917"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Stakeholder input → goal setting → needs assessment → direction → operating budgets → adoption → monitoring → adjustment.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BUDGET OVERVIEW · FY PLAN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Sample Budget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ample-budget-report.png"/>
          <p:cNvPicPr>
            <a:picLocks noChangeAspect="1"/>
          </p:cNvPicPr>
          <p:nvPr/>
        </p:nvPicPr>
        <p:blipFill>
          <a:blip r:embed="rId2"/>
          <a:stretch>
            <a:fillRect/>
          </a:stretch>
        </p:blipFill>
        <p:spPr>
          <a:xfrm>
            <a:off x="2267413" y="1783080"/>
            <a:ext cx="7656868"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A monthly phased budget: revenue and expense lines with totals for the fiscal year.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INVESTING FOR THE LONG TERM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Capital Budgeting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Planning for long-term investments in projects and assets.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Cash, not profit</a:t>
            </a:r>
          </a:p>
          <a:p>
            <a:pPr algn="l">
              <a:spcAft>
                <a:spcPts val="300"/>
              </a:spcAft>
            </a:pPr>
            <a:r>
              <a:rPr sz="1200" b="0">
                <a:solidFill>
                  <a:srgbClr val="5B6372"/>
                </a:solidFill>
                <a:latin typeface="Arial"/>
              </a:rPr>
              <a:t>Focus on cash inflows and outflows, not accounting revenue and expenses.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Time value of money</a:t>
            </a:r>
          </a:p>
          <a:p>
            <a:pPr algn="l">
              <a:spcAft>
                <a:spcPts val="300"/>
              </a:spcAft>
            </a:pPr>
            <a:r>
              <a:rPr sz="1200" b="0">
                <a:solidFill>
                  <a:srgbClr val="5B6372"/>
                </a:solidFill>
                <a:latin typeface="Arial"/>
              </a:rPr>
              <a:t>Adjust future cash flows to today's dollars before comparing.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Decision methods</a:t>
            </a:r>
          </a:p>
          <a:p>
            <a:pPr algn="l">
              <a:spcAft>
                <a:spcPts val="300"/>
              </a:spcAft>
            </a:pPr>
            <a:r>
              <a:rPr sz="1200" b="0">
                <a:solidFill>
                  <a:srgbClr val="5B6372"/>
                </a:solidFill>
                <a:latin typeface="Arial"/>
              </a:rPr>
              <a:t>Payback · discounted payback · NPV · profitability index · IRR.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 DOLLAR TODAY BEATS A DOLLAR TOMORROW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Time Value of Money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271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2710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1271016"/>
          </a:xfrm>
          <a:prstGeom prst="rect">
            <a:avLst/>
          </a:prstGeom>
          <a:noFill/>
        </p:spPr>
        <p:txBody>
          <a:bodyPr wrap="square" anchor="ctr">
            <a:spAutoFit/>
          </a:bodyPr>
          <a:lstStyle/>
          <a:p>
            <a:pPr algn="l">
              <a:spcAft>
                <a:spcPts val="400"/>
              </a:spcAft>
            </a:pPr>
            <a:r>
              <a:rPr sz="1500" b="1">
                <a:solidFill>
                  <a:srgbClr val="1F6FEB"/>
                </a:solidFill>
                <a:latin typeface="Arial"/>
              </a:rPr>
              <a:t>Present Value</a:t>
            </a:r>
          </a:p>
        </p:txBody>
      </p:sp>
      <p:sp>
        <p:nvSpPr>
          <p:cNvPr id="10" name="TextBox 9"/>
          <p:cNvSpPr txBox="1"/>
          <p:nvPr/>
        </p:nvSpPr>
        <p:spPr>
          <a:xfrm>
            <a:off x="4480560" y="1828800"/>
            <a:ext cx="4023360" cy="1271016"/>
          </a:xfrm>
          <a:prstGeom prst="rect">
            <a:avLst/>
          </a:prstGeom>
          <a:noFill/>
        </p:spPr>
        <p:txBody>
          <a:bodyPr wrap="square" anchor="ctr">
            <a:spAutoFit/>
          </a:bodyPr>
          <a:lstStyle/>
          <a:p>
            <a:pPr algn="l">
              <a:spcAft>
                <a:spcPts val="400"/>
              </a:spcAft>
            </a:pPr>
            <a:r>
              <a:rPr sz="1500" b="1">
                <a:solidFill>
                  <a:srgbClr val="161B26"/>
                </a:solidFill>
                <a:latin typeface="Arial"/>
              </a:rPr>
              <a:t>PV = FV / (1 + i)^n</a:t>
            </a:r>
          </a:p>
        </p:txBody>
      </p:sp>
      <p:sp>
        <p:nvSpPr>
          <p:cNvPr id="11" name="TextBox 10"/>
          <p:cNvSpPr txBox="1"/>
          <p:nvPr/>
        </p:nvSpPr>
        <p:spPr>
          <a:xfrm>
            <a:off x="8641080" y="1828800"/>
            <a:ext cx="2651760" cy="1271016"/>
          </a:xfrm>
          <a:prstGeom prst="rect">
            <a:avLst/>
          </a:prstGeom>
          <a:noFill/>
        </p:spPr>
        <p:txBody>
          <a:bodyPr wrap="square" anchor="ctr">
            <a:spAutoFit/>
          </a:bodyPr>
          <a:lstStyle/>
          <a:p>
            <a:pPr algn="l">
              <a:spcAft>
                <a:spcPts val="400"/>
              </a:spcAft>
            </a:pPr>
            <a:r>
              <a:rPr sz="1150" b="0">
                <a:solidFill>
                  <a:srgbClr val="5B6372"/>
                </a:solidFill>
                <a:latin typeface="Arial"/>
              </a:rPr>
              <a:t>$10,000 in 2 yrs @5% → $9,070.30 today</a:t>
            </a:r>
          </a:p>
        </p:txBody>
      </p:sp>
      <p:sp>
        <p:nvSpPr>
          <p:cNvPr id="12" name="Rectangle 11"/>
          <p:cNvSpPr/>
          <p:nvPr/>
        </p:nvSpPr>
        <p:spPr>
          <a:xfrm>
            <a:off x="777240" y="3319272"/>
            <a:ext cx="10634472" cy="1271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319272"/>
            <a:ext cx="3291840" cy="1271016"/>
          </a:xfrm>
          <a:prstGeom prst="rect">
            <a:avLst/>
          </a:prstGeom>
          <a:noFill/>
        </p:spPr>
        <p:txBody>
          <a:bodyPr wrap="square" anchor="ctr">
            <a:spAutoFit/>
          </a:bodyPr>
          <a:lstStyle/>
          <a:p>
            <a:pPr algn="l">
              <a:spcAft>
                <a:spcPts val="400"/>
              </a:spcAft>
            </a:pPr>
            <a:r>
              <a:rPr sz="1500" b="1">
                <a:solidFill>
                  <a:srgbClr val="10B981"/>
                </a:solidFill>
                <a:latin typeface="Arial"/>
              </a:rPr>
              <a:t>Future Value</a:t>
            </a:r>
          </a:p>
        </p:txBody>
      </p:sp>
      <p:sp>
        <p:nvSpPr>
          <p:cNvPr id="15" name="TextBox 14"/>
          <p:cNvSpPr txBox="1"/>
          <p:nvPr/>
        </p:nvSpPr>
        <p:spPr>
          <a:xfrm>
            <a:off x="4480560" y="3319272"/>
            <a:ext cx="4023360" cy="1271016"/>
          </a:xfrm>
          <a:prstGeom prst="rect">
            <a:avLst/>
          </a:prstGeom>
          <a:noFill/>
        </p:spPr>
        <p:txBody>
          <a:bodyPr wrap="square" anchor="ctr">
            <a:spAutoFit/>
          </a:bodyPr>
          <a:lstStyle/>
          <a:p>
            <a:pPr algn="l">
              <a:spcAft>
                <a:spcPts val="400"/>
              </a:spcAft>
            </a:pPr>
            <a:r>
              <a:rPr sz="1500" b="1">
                <a:solidFill>
                  <a:srgbClr val="161B26"/>
                </a:solidFill>
                <a:latin typeface="Arial"/>
              </a:rPr>
              <a:t>FV = PV × (1 + i)^n</a:t>
            </a:r>
          </a:p>
        </p:txBody>
      </p:sp>
      <p:sp>
        <p:nvSpPr>
          <p:cNvPr id="16" name="TextBox 15"/>
          <p:cNvSpPr txBox="1"/>
          <p:nvPr/>
        </p:nvSpPr>
        <p:spPr>
          <a:xfrm>
            <a:off x="8641080" y="3319272"/>
            <a:ext cx="2651760" cy="1271016"/>
          </a:xfrm>
          <a:prstGeom prst="rect">
            <a:avLst/>
          </a:prstGeom>
          <a:noFill/>
        </p:spPr>
        <p:txBody>
          <a:bodyPr wrap="square" anchor="ctr">
            <a:spAutoFit/>
          </a:bodyPr>
          <a:lstStyle/>
          <a:p>
            <a:pPr algn="l">
              <a:spcAft>
                <a:spcPts val="400"/>
              </a:spcAft>
            </a:pPr>
            <a:r>
              <a:rPr sz="1150" b="0">
                <a:solidFill>
                  <a:srgbClr val="5B6372"/>
                </a:solidFill>
                <a:latin typeface="Arial"/>
              </a:rPr>
              <a:t>$10,000 today @5% → $11,025 in 2 yrs</a:t>
            </a:r>
          </a:p>
        </p:txBody>
      </p:sp>
      <p:sp>
        <p:nvSpPr>
          <p:cNvPr id="17" name="Rectangle 16"/>
          <p:cNvSpPr/>
          <p:nvPr/>
        </p:nvSpPr>
        <p:spPr>
          <a:xfrm>
            <a:off x="777240" y="4809744"/>
            <a:ext cx="10634472" cy="1271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9744"/>
            <a:ext cx="91440" cy="12710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809744"/>
            <a:ext cx="3291840" cy="1271016"/>
          </a:xfrm>
          <a:prstGeom prst="rect">
            <a:avLst/>
          </a:prstGeom>
          <a:noFill/>
        </p:spPr>
        <p:txBody>
          <a:bodyPr wrap="square" anchor="ctr">
            <a:spAutoFit/>
          </a:bodyPr>
          <a:lstStyle/>
          <a:p>
            <a:pPr algn="l">
              <a:spcAft>
                <a:spcPts val="400"/>
              </a:spcAft>
            </a:pPr>
            <a:r>
              <a:rPr sz="1500" b="1">
                <a:solidFill>
                  <a:srgbClr val="7C3AED"/>
                </a:solidFill>
                <a:latin typeface="Arial"/>
              </a:rPr>
              <a:t>Components</a:t>
            </a:r>
          </a:p>
        </p:txBody>
      </p:sp>
      <p:sp>
        <p:nvSpPr>
          <p:cNvPr id="20" name="TextBox 19"/>
          <p:cNvSpPr txBox="1"/>
          <p:nvPr/>
        </p:nvSpPr>
        <p:spPr>
          <a:xfrm>
            <a:off x="4480560" y="4809744"/>
            <a:ext cx="4023360" cy="1271016"/>
          </a:xfrm>
          <a:prstGeom prst="rect">
            <a:avLst/>
          </a:prstGeom>
          <a:noFill/>
        </p:spPr>
        <p:txBody>
          <a:bodyPr wrap="square" anchor="ctr">
            <a:spAutoFit/>
          </a:bodyPr>
          <a:lstStyle/>
          <a:p>
            <a:pPr algn="l">
              <a:spcAft>
                <a:spcPts val="400"/>
              </a:spcAft>
            </a:pPr>
            <a:r>
              <a:rPr sz="1500" b="1">
                <a:solidFill>
                  <a:srgbClr val="161B26"/>
                </a:solidFill>
                <a:latin typeface="Arial"/>
              </a:rPr>
              <a:t>PV · FV · N periods · Interest i · Payment PMT</a:t>
            </a:r>
          </a:p>
        </p:txBody>
      </p:sp>
      <p:sp>
        <p:nvSpPr>
          <p:cNvPr id="21" name="TextBox 20"/>
          <p:cNvSpPr txBox="1"/>
          <p:nvPr/>
        </p:nvSpPr>
        <p:spPr>
          <a:xfrm>
            <a:off x="8641080" y="4809744"/>
            <a:ext cx="2651760" cy="1271016"/>
          </a:xfrm>
          <a:prstGeom prst="rect">
            <a:avLst/>
          </a:prstGeom>
          <a:noFill/>
        </p:spPr>
        <p:txBody>
          <a:bodyPr wrap="square" anchor="ctr">
            <a:spAutoFit/>
          </a:bodyPr>
          <a:lstStyle/>
          <a:p>
            <a:pPr algn="l">
              <a:spcAft>
                <a:spcPts val="400"/>
              </a:spcAft>
            </a:pPr>
            <a:r>
              <a:rPr sz="1150" b="0">
                <a:solidFill>
                  <a:srgbClr val="5B6372"/>
                </a:solidFill>
                <a:latin typeface="Arial"/>
              </a:rPr>
              <a:t>Opportunity cost: interest or inflation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SIX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Capital Budgeting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Identify long-term goals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Identify investment proposals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Estimate &amp; analyse the cash flows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Analyse financial feasibility</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Choose &amp; implement projects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Monitor the projects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FIVE DECISION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Capital Budgeting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67482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674827"/>
          </a:xfrm>
          <a:prstGeom prst="rect">
            <a:avLst/>
          </a:prstGeom>
          <a:noFill/>
        </p:spPr>
        <p:txBody>
          <a:bodyPr wrap="square" anchor="ctr">
            <a:spAutoFit/>
          </a:bodyPr>
          <a:lstStyle/>
          <a:p>
            <a:pPr algn="l">
              <a:spcAft>
                <a:spcPts val="400"/>
              </a:spcAft>
            </a:pPr>
            <a:r>
              <a:rPr sz="1500" b="1">
                <a:solidFill>
                  <a:srgbClr val="1F6FEB"/>
                </a:solidFill>
                <a:latin typeface="Arial"/>
              </a:rPr>
              <a:t>Payback Period</a:t>
            </a:r>
          </a:p>
        </p:txBody>
      </p:sp>
      <p:sp>
        <p:nvSpPr>
          <p:cNvPr id="10" name="TextBox 9"/>
          <p:cNvSpPr txBox="1"/>
          <p:nvPr/>
        </p:nvSpPr>
        <p:spPr>
          <a:xfrm>
            <a:off x="4480560" y="1828800"/>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Outlay / Annual cash inflow</a:t>
            </a:r>
          </a:p>
        </p:txBody>
      </p:sp>
      <p:sp>
        <p:nvSpPr>
          <p:cNvPr id="11" name="TextBox 10"/>
          <p:cNvSpPr txBox="1"/>
          <p:nvPr/>
        </p:nvSpPr>
        <p:spPr>
          <a:xfrm>
            <a:off x="8641080" y="1828800"/>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$2,000 / $375 = 5.33 years</a:t>
            </a:r>
          </a:p>
        </p:txBody>
      </p:sp>
      <p:sp>
        <p:nvSpPr>
          <p:cNvPr id="12" name="Rectangle 11"/>
          <p:cNvSpPr/>
          <p:nvPr/>
        </p:nvSpPr>
        <p:spPr>
          <a:xfrm>
            <a:off x="777240" y="2723083"/>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23083"/>
            <a:ext cx="91440" cy="67482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723083"/>
            <a:ext cx="3291840" cy="674827"/>
          </a:xfrm>
          <a:prstGeom prst="rect">
            <a:avLst/>
          </a:prstGeom>
          <a:noFill/>
        </p:spPr>
        <p:txBody>
          <a:bodyPr wrap="square" anchor="ctr">
            <a:spAutoFit/>
          </a:bodyPr>
          <a:lstStyle/>
          <a:p>
            <a:pPr algn="l">
              <a:spcAft>
                <a:spcPts val="400"/>
              </a:spcAft>
            </a:pPr>
            <a:r>
              <a:rPr sz="1500" b="1">
                <a:solidFill>
                  <a:srgbClr val="10B981"/>
                </a:solidFill>
                <a:latin typeface="Arial"/>
              </a:rPr>
              <a:t>Discounted Payback</a:t>
            </a:r>
          </a:p>
        </p:txBody>
      </p:sp>
      <p:sp>
        <p:nvSpPr>
          <p:cNvPr id="15" name="TextBox 14"/>
          <p:cNvSpPr txBox="1"/>
          <p:nvPr/>
        </p:nvSpPr>
        <p:spPr>
          <a:xfrm>
            <a:off x="4480560" y="2723083"/>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Cumulative discounted CF ≥ outlay</a:t>
            </a:r>
          </a:p>
        </p:txBody>
      </p:sp>
      <p:sp>
        <p:nvSpPr>
          <p:cNvPr id="16" name="TextBox 15"/>
          <p:cNvSpPr txBox="1"/>
          <p:nvPr/>
        </p:nvSpPr>
        <p:spPr>
          <a:xfrm>
            <a:off x="8641080" y="2723083"/>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Same project at 10% → ≈ 8 years</a:t>
            </a:r>
          </a:p>
        </p:txBody>
      </p:sp>
      <p:sp>
        <p:nvSpPr>
          <p:cNvPr id="17" name="Rectangle 16"/>
          <p:cNvSpPr/>
          <p:nvPr/>
        </p:nvSpPr>
        <p:spPr>
          <a:xfrm>
            <a:off x="777240" y="3617366"/>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7366"/>
            <a:ext cx="91440" cy="67482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617366"/>
            <a:ext cx="3291840" cy="674827"/>
          </a:xfrm>
          <a:prstGeom prst="rect">
            <a:avLst/>
          </a:prstGeom>
          <a:noFill/>
        </p:spPr>
        <p:txBody>
          <a:bodyPr wrap="square" anchor="ctr">
            <a:spAutoFit/>
          </a:bodyPr>
          <a:lstStyle/>
          <a:p>
            <a:pPr algn="l">
              <a:spcAft>
                <a:spcPts val="400"/>
              </a:spcAft>
            </a:pPr>
            <a:r>
              <a:rPr sz="1500" b="1">
                <a:solidFill>
                  <a:srgbClr val="7C3AED"/>
                </a:solidFill>
                <a:latin typeface="Arial"/>
              </a:rPr>
              <a:t>Net Present Value</a:t>
            </a:r>
          </a:p>
        </p:txBody>
      </p:sp>
      <p:sp>
        <p:nvSpPr>
          <p:cNvPr id="20" name="TextBox 19"/>
          <p:cNvSpPr txBox="1"/>
          <p:nvPr/>
        </p:nvSpPr>
        <p:spPr>
          <a:xfrm>
            <a:off x="4480560" y="3617366"/>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Σ PV(inflows) − Outlay</a:t>
            </a:r>
          </a:p>
        </p:txBody>
      </p:sp>
      <p:sp>
        <p:nvSpPr>
          <p:cNvPr id="21" name="TextBox 20"/>
          <p:cNvSpPr txBox="1"/>
          <p:nvPr/>
        </p:nvSpPr>
        <p:spPr>
          <a:xfrm>
            <a:off x="8641080" y="3617366"/>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Accept if NPV &gt; 0</a:t>
            </a:r>
          </a:p>
        </p:txBody>
      </p:sp>
      <p:sp>
        <p:nvSpPr>
          <p:cNvPr id="22" name="Rectangle 21"/>
          <p:cNvSpPr/>
          <p:nvPr/>
        </p:nvSpPr>
        <p:spPr>
          <a:xfrm>
            <a:off x="777240" y="4511649"/>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11649"/>
            <a:ext cx="91440" cy="67482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511649"/>
            <a:ext cx="3291840" cy="674827"/>
          </a:xfrm>
          <a:prstGeom prst="rect">
            <a:avLst/>
          </a:prstGeom>
          <a:noFill/>
        </p:spPr>
        <p:txBody>
          <a:bodyPr wrap="square" anchor="ctr">
            <a:spAutoFit/>
          </a:bodyPr>
          <a:lstStyle/>
          <a:p>
            <a:pPr algn="l">
              <a:spcAft>
                <a:spcPts val="400"/>
              </a:spcAft>
            </a:pPr>
            <a:r>
              <a:rPr sz="1500" b="1">
                <a:solidFill>
                  <a:srgbClr val="F59E0B"/>
                </a:solidFill>
                <a:latin typeface="Arial"/>
              </a:rPr>
              <a:t>Profitability Index</a:t>
            </a:r>
          </a:p>
        </p:txBody>
      </p:sp>
      <p:sp>
        <p:nvSpPr>
          <p:cNvPr id="25" name="TextBox 24"/>
          <p:cNvSpPr txBox="1"/>
          <p:nvPr/>
        </p:nvSpPr>
        <p:spPr>
          <a:xfrm>
            <a:off x="4480560" y="4511649"/>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PV(inflows) / PV(outflows)</a:t>
            </a:r>
          </a:p>
        </p:txBody>
      </p:sp>
      <p:sp>
        <p:nvSpPr>
          <p:cNvPr id="26" name="TextBox 25"/>
          <p:cNvSpPr txBox="1"/>
          <p:nvPr/>
        </p:nvSpPr>
        <p:spPr>
          <a:xfrm>
            <a:off x="8641080" y="4511649"/>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Accept if PI &gt; 1</a:t>
            </a:r>
          </a:p>
        </p:txBody>
      </p:sp>
      <p:sp>
        <p:nvSpPr>
          <p:cNvPr id="27" name="Rectangle 26"/>
          <p:cNvSpPr/>
          <p:nvPr/>
        </p:nvSpPr>
        <p:spPr>
          <a:xfrm>
            <a:off x="777240" y="5405932"/>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05932"/>
            <a:ext cx="91440" cy="67482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05932"/>
            <a:ext cx="3291840" cy="674827"/>
          </a:xfrm>
          <a:prstGeom prst="rect">
            <a:avLst/>
          </a:prstGeom>
          <a:noFill/>
        </p:spPr>
        <p:txBody>
          <a:bodyPr wrap="square" anchor="ctr">
            <a:spAutoFit/>
          </a:bodyPr>
          <a:lstStyle/>
          <a:p>
            <a:pPr algn="l">
              <a:spcAft>
                <a:spcPts val="400"/>
              </a:spcAft>
            </a:pPr>
            <a:r>
              <a:rPr sz="1500" b="1">
                <a:solidFill>
                  <a:srgbClr val="1F6FEB"/>
                </a:solidFill>
                <a:latin typeface="Arial"/>
              </a:rPr>
              <a:t>Internal Rate of Return</a:t>
            </a:r>
          </a:p>
        </p:txBody>
      </p:sp>
      <p:sp>
        <p:nvSpPr>
          <p:cNvPr id="30" name="TextBox 29"/>
          <p:cNvSpPr txBox="1"/>
          <p:nvPr/>
        </p:nvSpPr>
        <p:spPr>
          <a:xfrm>
            <a:off x="4480560" y="5405932"/>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Rate where NPV = 0</a:t>
            </a:r>
          </a:p>
        </p:txBody>
      </p:sp>
      <p:sp>
        <p:nvSpPr>
          <p:cNvPr id="31" name="TextBox 30"/>
          <p:cNvSpPr txBox="1"/>
          <p:nvPr/>
        </p:nvSpPr>
        <p:spPr>
          <a:xfrm>
            <a:off x="8641080" y="5405932"/>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Accept if IRR &gt; threshold rate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DISCOUNTING THE CASH FLOWS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Discounted Payback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scounted-payback-example.png"/>
          <p:cNvPicPr>
            <a:picLocks noChangeAspect="1"/>
          </p:cNvPicPr>
          <p:nvPr/>
        </p:nvPicPr>
        <p:blipFill>
          <a:blip r:embed="rId2"/>
          <a:stretch>
            <a:fillRect/>
          </a:stretch>
        </p:blipFill>
        <p:spPr>
          <a:xfrm>
            <a:off x="792327" y="1995564"/>
            <a:ext cx="10607040" cy="3918432"/>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Each future inflow is discounted before accumulating — payback arrives later than the simple method.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PI &gt; 1 → ACCEPT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Profitability Index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0">
                <a:solidFill>
                  <a:srgbClr val="161B26"/>
                </a:solidFill>
                <a:latin typeface="Arial"/>
              </a:rPr>
              <a:t>•  Discount every inflow at the required return.</a:t>
            </a:r>
          </a:p>
          <a:p>
            <a:pPr>
              <a:spcAft>
                <a:spcPts val="1000"/>
              </a:spcAft>
            </a:pPr>
            <a:r>
              <a:rPr sz="1500" b="0">
                <a:solidFill>
                  <a:srgbClr val="161B26"/>
                </a:solidFill>
                <a:latin typeface="Arial"/>
              </a:rPr>
              <a:t>•  PV of inflows $2,304 vs PV of outflows $2,000.</a:t>
            </a:r>
          </a:p>
          <a:p>
            <a:pPr>
              <a:spcAft>
                <a:spcPts val="1000"/>
              </a:spcAft>
            </a:pPr>
            <a:r>
              <a:rPr sz="1500" b="1">
                <a:solidFill>
                  <a:srgbClr val="161B26"/>
                </a:solidFill>
                <a:latin typeface="Arial"/>
              </a:rPr>
              <a:t>•  PI = 2,304 / 2,000 = 1.15 → accept the project.</a:t>
            </a:r>
          </a:p>
          <a:p>
            <a:pPr>
              <a:spcAft>
                <a:spcPts val="1000"/>
              </a:spcAft>
            </a:pPr>
            <a:r>
              <a:rPr sz="1500" b="0">
                <a:solidFill>
                  <a:srgbClr val="161B26"/>
                </a:solidFill>
                <a:latin typeface="Arial"/>
              </a:rPr>
              <a:t>•  NPV = $304 — the same accept signal.</a:t>
            </a:r>
          </a:p>
        </p:txBody>
      </p:sp>
      <p:pic>
        <p:nvPicPr>
          <p:cNvPr id="8" name="Picture 7" descr="profitability-index-example.png"/>
          <p:cNvPicPr>
            <a:picLocks noChangeAspect="1"/>
          </p:cNvPicPr>
          <p:nvPr/>
        </p:nvPicPr>
        <p:blipFill>
          <a:blip r:embed="rId2"/>
          <a:stretch>
            <a:fillRect/>
          </a:stretch>
        </p:blipFill>
        <p:spPr>
          <a:xfrm>
            <a:off x="7231623" y="1828800"/>
            <a:ext cx="3276113"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Payback Period &amp; Discounted Payback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Havenwood Trading is evaluating a refrigerated delivery van: S$2,000k outlay in Year 0, saving S$375k per year for 10 years versus outsourced cold-chain delivery. Compute the simple payback period, then discount each cash flow at the 10% required return to find the discounted payback.</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 payback worksheet showing cumulative cash flow per year, the simple payback point (5.33 years) and the discounted payback point (≈8 years).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FA-Activity-04-Payback-Period.xlsx in activities/activity04</a:t>
            </a:r>
          </a:p>
          <a:p>
            <a:pPr algn="l">
              <a:spcAft>
                <a:spcPts val="300"/>
              </a:spcAft>
            </a:pPr>
            <a:r>
              <a:rPr sz="1200" b="1">
                <a:solidFill>
                  <a:srgbClr val="10B981"/>
                </a:solidFill>
                <a:latin typeface="Arial"/>
              </a:rPr>
              <a:t>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 Present Value &amp; Profitability Index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Using the same delivery-van proposal (S$2,000k outlay, S$375k/year for 10 years, 10% required return), compute the Net Present Value and the Profitability Index, and make the accept/reject recommendation to management.</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An NPV/PI worksheet: PV of each inflow, NPV ≈ S$304k, PI ≈ 1.15, and a reasoned accept decision.</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FA-Activity-05-NPV-PI.xlsx in activities/activity05</a:t>
            </a:r>
          </a:p>
          <a:p>
            <a:pPr algn="l">
              <a:spcAft>
                <a:spcPts val="300"/>
              </a:spcAft>
            </a:pPr>
            <a:r>
              <a:rPr sz="1200" b="1">
                <a:solidFill>
                  <a:srgbClr val="10B981"/>
                </a:solidFill>
                <a:latin typeface="Arial"/>
              </a:rPr>
              <a:t>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MONTHLY CASH DISCIPLINE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Cash Flow Analysis &amp;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0">
                <a:solidFill>
                  <a:srgbClr val="161B26"/>
                </a:solidFill>
                <a:latin typeface="Arial"/>
              </a:rPr>
              <a:t>•  Track the monthly statement of cash flows.</a:t>
            </a:r>
          </a:p>
          <a:p>
            <a:pPr>
              <a:spcAft>
                <a:spcPts val="1000"/>
              </a:spcAft>
            </a:pPr>
            <a:r>
              <a:rPr sz="1500" b="0">
                <a:solidFill>
                  <a:srgbClr val="161B26"/>
                </a:solidFill>
                <a:latin typeface="Arial"/>
              </a:rPr>
              <a:t>•  Improve cash flow: invoice promptly and chase receivables.</a:t>
            </a:r>
          </a:p>
          <a:p>
            <a:pPr>
              <a:spcAft>
                <a:spcPts val="1000"/>
              </a:spcAft>
            </a:pPr>
            <a:r>
              <a:rPr sz="1500" b="0">
                <a:solidFill>
                  <a:srgbClr val="161B26"/>
                </a:solidFill>
                <a:latin typeface="Arial"/>
              </a:rPr>
              <a:t>•  Negotiate supplier terms; manage inventory tightly.</a:t>
            </a:r>
          </a:p>
          <a:p>
            <a:pPr>
              <a:spcAft>
                <a:spcPts val="1000"/>
              </a:spcAft>
            </a:pPr>
            <a:r>
              <a:rPr sz="1500" b="0">
                <a:solidFill>
                  <a:srgbClr val="161B26"/>
                </a:solidFill>
                <a:latin typeface="Arial"/>
              </a:rPr>
              <a:t>•  Time capital spending; keep a cash buffer.</a:t>
            </a:r>
          </a:p>
        </p:txBody>
      </p:sp>
      <p:pic>
        <p:nvPicPr>
          <p:cNvPr id="8" name="Picture 7" descr="monthly-cash-flow.png"/>
          <p:cNvPicPr>
            <a:picLocks noChangeAspect="1"/>
          </p:cNvPicPr>
          <p:nvPr/>
        </p:nvPicPr>
        <p:blipFill>
          <a:blip r:embed="rId2"/>
          <a:stretch>
            <a:fillRect/>
          </a:stretch>
        </p:blipFill>
        <p:spPr>
          <a:xfrm>
            <a:off x="6261811" y="1828800"/>
            <a:ext cx="5215737"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FORECASTING THE STATEMENTS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 Forma (Projected)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Plan ahead and compare actual vs predicted performance.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 is projected</a:t>
            </a:r>
          </a:p>
          <a:p>
            <a:pPr algn="l">
              <a:spcAft>
                <a:spcPts val="300"/>
              </a:spcAft>
            </a:pPr>
            <a:r>
              <a:rPr sz="1200" b="0">
                <a:solidFill>
                  <a:srgbClr val="5B6372"/>
                </a:solidFill>
                <a:latin typeface="Arial"/>
              </a:rPr>
              <a:t>The income statement and the balance sheet.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Cash flow</a:t>
            </a:r>
          </a:p>
          <a:p>
            <a:pPr algn="l">
              <a:spcAft>
                <a:spcPts val="300"/>
              </a:spcAft>
            </a:pPr>
            <a:r>
              <a:rPr sz="1200" b="0">
                <a:solidFill>
                  <a:srgbClr val="5B6372"/>
                </a:solidFill>
                <a:latin typeface="Arial"/>
              </a:rPr>
              <a:t>The projected cash flow is derived from the other two statements.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Forecasting cash</a:t>
            </a:r>
          </a:p>
          <a:p>
            <a:pPr algn="l">
              <a:spcAft>
                <a:spcPts val="300"/>
              </a:spcAft>
            </a:pPr>
            <a:r>
              <a:rPr sz="1200" b="0">
                <a:solidFill>
                  <a:srgbClr val="5B6372"/>
                </a:solidFill>
                <a:latin typeface="Arial"/>
              </a:rPr>
              <a:t>Estimate monthly sales → predict receipt of payments → estimate costs.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CONTROL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 Actual, Variance, Forecast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Budget: planned sales of $500,000.  Actual: sales of $400,000.</a:t>
            </a:r>
          </a:p>
          <a:p>
            <a:pPr>
              <a:spcAft>
                <a:spcPts val="1000"/>
              </a:spcAft>
            </a:pPr>
            <a:r>
              <a:rPr sz="1700" b="0">
                <a:solidFill>
                  <a:srgbClr val="161B26"/>
                </a:solidFill>
                <a:latin typeface="Arial"/>
              </a:rPr>
              <a:t>•  Variance: −$100,000 — or −20% of budget ($100,000 / $500,000).</a:t>
            </a:r>
          </a:p>
          <a:p>
            <a:pPr>
              <a:spcAft>
                <a:spcPts val="1000"/>
              </a:spcAft>
            </a:pPr>
            <a:r>
              <a:rPr sz="1700" b="0">
                <a:solidFill>
                  <a:srgbClr val="161B26"/>
                </a:solidFill>
                <a:latin typeface="Arial"/>
              </a:rPr>
              <a:t>•  Both the dollar and percentage variance appear on the Budget-to-Actual report.</a:t>
            </a:r>
          </a:p>
          <a:p>
            <a:pPr>
              <a:spcAft>
                <a:spcPts val="1000"/>
              </a:spcAft>
            </a:pPr>
            <a:r>
              <a:rPr sz="1700" b="0">
                <a:solidFill>
                  <a:srgbClr val="161B26"/>
                </a:solidFill>
                <a:latin typeface="Arial"/>
              </a:rPr>
              <a:t>•  Forecast: the projection of future periods from historical data, updated at regular intervals.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PLAN VS PREDICTION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 vs Forecast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Budget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Forecast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Budget</a:t>
            </a:r>
          </a:p>
          <a:p>
            <a:pPr>
              <a:spcAft>
                <a:spcPts val="1000"/>
              </a:spcAft>
            </a:pPr>
            <a:r>
              <a:rPr sz="1400" b="0">
                <a:solidFill>
                  <a:srgbClr val="5B6372"/>
                </a:solidFill>
                <a:latin typeface="Arial"/>
              </a:rPr>
              <a:t>–  A financial plan expressed in quantitative terms, prepared in advance</a:t>
            </a:r>
          </a:p>
          <a:p>
            <a:pPr>
              <a:spcAft>
                <a:spcPts val="1000"/>
              </a:spcAft>
            </a:pPr>
            <a:r>
              <a:rPr sz="1400" b="0">
                <a:solidFill>
                  <a:srgbClr val="5B6372"/>
                </a:solidFill>
                <a:latin typeface="Arial"/>
              </a:rPr>
              <a:t>–  The financial expression of a business target</a:t>
            </a:r>
          </a:p>
          <a:p>
            <a:pPr>
              <a:spcAft>
                <a:spcPts val="1000"/>
              </a:spcAft>
            </a:pPr>
            <a:r>
              <a:rPr sz="1400" b="0">
                <a:solidFill>
                  <a:srgbClr val="5B6372"/>
                </a:solidFill>
                <a:latin typeface="Arial"/>
              </a:rPr>
              <a:t>–  Sets targets · updated annually</a:t>
            </a:r>
          </a:p>
          <a:p>
            <a:pPr>
              <a:spcAft>
                <a:spcPts val="1000"/>
              </a:spcAft>
            </a:pPr>
            <a:r>
              <a:rPr sz="1400" b="0">
                <a:solidFill>
                  <a:srgbClr val="5B6372"/>
                </a:solidFill>
                <a:latin typeface="Arial"/>
              </a:rPr>
              <a:t>–  Variance analysis: yes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Forecast</a:t>
            </a:r>
          </a:p>
          <a:p>
            <a:pPr>
              <a:spcAft>
                <a:spcPts val="1000"/>
              </a:spcAft>
            </a:pPr>
            <a:r>
              <a:rPr sz="1400" b="0">
                <a:solidFill>
                  <a:srgbClr val="5B6372"/>
                </a:solidFill>
                <a:latin typeface="Arial"/>
              </a:rPr>
              <a:t>–  Estimation of future trends from past and present data</a:t>
            </a:r>
          </a:p>
          <a:p>
            <a:pPr>
              <a:spcAft>
                <a:spcPts val="1000"/>
              </a:spcAft>
            </a:pPr>
            <a:r>
              <a:rPr sz="1400" b="0">
                <a:solidFill>
                  <a:srgbClr val="5B6372"/>
                </a:solidFill>
                <a:latin typeface="Arial"/>
              </a:rPr>
              <a:t>–  A prediction of upcoming events and trends</a:t>
            </a:r>
          </a:p>
          <a:p>
            <a:pPr>
              <a:spcAft>
                <a:spcPts val="1000"/>
              </a:spcAft>
            </a:pPr>
            <a:r>
              <a:rPr sz="1400" b="0">
                <a:solidFill>
                  <a:srgbClr val="5B6372"/>
                </a:solidFill>
                <a:latin typeface="Arial"/>
              </a:rPr>
              <a:t>–  No targets · updated at regular intervals</a:t>
            </a:r>
          </a:p>
          <a:p>
            <a:pPr>
              <a:spcAft>
                <a:spcPts val="1000"/>
              </a:spcAft>
            </a:pPr>
            <a:r>
              <a:rPr sz="1400" b="0">
                <a:solidFill>
                  <a:srgbClr val="5B6372"/>
                </a:solidFill>
                <a:latin typeface="Arial"/>
              </a:rPr>
              <a:t>–  Variance analysis: no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ADVERSE VS FAVOURABLE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Variances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0">
                <a:solidFill>
                  <a:srgbClr val="161B26"/>
                </a:solidFill>
                <a:latin typeface="Arial"/>
              </a:rPr>
              <a:t>•  Adverse variance: actual income below budget, or spending above budget — a deficit.</a:t>
            </a:r>
          </a:p>
          <a:p>
            <a:pPr>
              <a:spcAft>
                <a:spcPts val="1000"/>
              </a:spcAft>
            </a:pPr>
            <a:r>
              <a:rPr sz="1500" b="0">
                <a:solidFill>
                  <a:srgbClr val="161B26"/>
                </a:solidFill>
                <a:latin typeface="Arial"/>
              </a:rPr>
              <a:t>•  Favourable variance: actual income above budget, or spending below budget — a surplus.</a:t>
            </a:r>
          </a:p>
          <a:p>
            <a:pPr>
              <a:spcAft>
                <a:spcPts val="1000"/>
              </a:spcAft>
            </a:pPr>
            <a:r>
              <a:rPr sz="1500" b="0">
                <a:solidFill>
                  <a:srgbClr val="161B26"/>
                </a:solidFill>
                <a:latin typeface="Arial"/>
              </a:rPr>
              <a:t>•  Manage over/underspend with clear-cut thresholds in dollars or percent.</a:t>
            </a:r>
          </a:p>
          <a:p>
            <a:pPr>
              <a:spcAft>
                <a:spcPts val="1000"/>
              </a:spcAft>
            </a:pPr>
            <a:r>
              <a:rPr sz="1500" b="0">
                <a:solidFill>
                  <a:srgbClr val="161B26"/>
                </a:solidFill>
                <a:latin typeface="Arial"/>
              </a:rPr>
              <a:t>•  RAG-status thresholds trigger review at defined limits.</a:t>
            </a:r>
          </a:p>
        </p:txBody>
      </p:sp>
      <p:pic>
        <p:nvPicPr>
          <p:cNvPr id="8" name="Picture 7" descr="variance-threshold.jpg"/>
          <p:cNvPicPr>
            <a:picLocks noChangeAspect="1"/>
          </p:cNvPicPr>
          <p:nvPr/>
        </p:nvPicPr>
        <p:blipFill>
          <a:blip r:embed="rId2"/>
          <a:stretch>
            <a:fillRect/>
          </a:stretch>
        </p:blipFill>
        <p:spPr>
          <a:xfrm>
            <a:off x="6126480" y="2264548"/>
            <a:ext cx="5486400" cy="333474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RISK PROFILING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&amp; Financial Risk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High-risk company</a:t>
            </a:r>
          </a:p>
          <a:p>
            <a:pPr algn="l">
              <a:spcAft>
                <a:spcPts val="300"/>
              </a:spcAft>
            </a:pPr>
            <a:r>
              <a:rPr sz="1100" b="0">
                <a:solidFill>
                  <a:srgbClr val="5B6372"/>
                </a:solidFill>
                <a:latin typeface="Arial"/>
              </a:rPr>
              <a:t>Operates in a high-risk industry AND faces a risk of financial failure.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High-risk factors</a:t>
            </a:r>
          </a:p>
          <a:p>
            <a:pPr algn="l">
              <a:spcAft>
                <a:spcPts val="300"/>
              </a:spcAft>
            </a:pPr>
            <a:r>
              <a:rPr sz="1100" b="0">
                <a:solidFill>
                  <a:srgbClr val="5B6372"/>
                </a:solidFill>
                <a:latin typeface="Arial"/>
              </a:rPr>
              <a:t>Financial risk (banks, merchant accounts) · compliance · safety and statutory law.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Consequences</a:t>
            </a:r>
          </a:p>
          <a:p>
            <a:pPr algn="l">
              <a:spcAft>
                <a:spcPts val="300"/>
              </a:spcAft>
            </a:pPr>
            <a:r>
              <a:rPr sz="1100" b="0">
                <a:solidFill>
                  <a:srgbClr val="5B6372"/>
                </a:solidFill>
                <a:latin typeface="Arial"/>
              </a:rPr>
              <a:t>High-risk borrowers pay higher loan rates and larger down payments.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Risk types</a:t>
            </a:r>
          </a:p>
          <a:p>
            <a:pPr algn="l">
              <a:spcAft>
                <a:spcPts val="300"/>
              </a:spcAft>
            </a:pPr>
            <a:r>
              <a:rPr sz="1100" b="0">
                <a:solidFill>
                  <a:srgbClr val="5B6372"/>
                </a:solidFill>
                <a:latin typeface="Arial"/>
              </a:rPr>
              <a:t>Strategic · compliance · financial · operational · reputational risks.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Examples</a:t>
            </a:r>
          </a:p>
          <a:p>
            <a:pPr algn="l">
              <a:spcAft>
                <a:spcPts val="300"/>
              </a:spcAft>
            </a:pPr>
            <a:r>
              <a:rPr sz="1100" b="0">
                <a:solidFill>
                  <a:srgbClr val="5B6372"/>
                </a:solidFill>
                <a:latin typeface="Arial"/>
              </a:rPr>
              <a:t>Agriculture, construction and mining industries.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Low-risk company</a:t>
            </a:r>
          </a:p>
          <a:p>
            <a:pPr algn="l">
              <a:spcAft>
                <a:spcPts val="300"/>
              </a:spcAft>
            </a:pPr>
            <a:r>
              <a:rPr sz="1100" b="0">
                <a:solidFill>
                  <a:srgbClr val="5B6372"/>
                </a:solidFill>
                <a:latin typeface="Arial"/>
              </a:rPr>
              <a:t>Stable industry and sound finances — the reverse conditions.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THREE-STATEMENT REVIEW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Determine the Financial Health of a Company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Balance sheet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Debt relative to equity</a:t>
            </a:r>
          </a:p>
          <a:p>
            <a:pPr>
              <a:spcAft>
                <a:spcPts val="900"/>
              </a:spcAft>
            </a:pPr>
            <a:r>
              <a:rPr sz="1400" b="0">
                <a:solidFill>
                  <a:srgbClr val="161B26"/>
                </a:solidFill>
                <a:latin typeface="Arial"/>
              </a:rPr>
              <a:t>•  Short-term liquidity</a:t>
            </a:r>
          </a:p>
          <a:p>
            <a:pPr>
              <a:spcAft>
                <a:spcPts val="900"/>
              </a:spcAft>
            </a:pPr>
            <a:r>
              <a:rPr sz="1400" b="0">
                <a:solidFill>
                  <a:srgbClr val="161B26"/>
                </a:solidFill>
                <a:latin typeface="Arial"/>
              </a:rPr>
              <a:t>•  Tangible vs financial assets</a:t>
            </a:r>
          </a:p>
          <a:p>
            <a:pPr>
              <a:spcAft>
                <a:spcPts val="900"/>
              </a:spcAft>
            </a:pPr>
            <a:r>
              <a:rPr sz="1400" b="0">
                <a:solidFill>
                  <a:srgbClr val="161B26"/>
                </a:solidFill>
                <a:latin typeface="Arial"/>
              </a:rPr>
              <a:t>•  Collection &amp; repayment cycles</a:t>
            </a:r>
          </a:p>
          <a:p>
            <a:pPr>
              <a:spcAft>
                <a:spcPts val="900"/>
              </a:spcAft>
            </a:pPr>
            <a:r>
              <a:rPr sz="1400" b="0">
                <a:solidFill>
                  <a:srgbClr val="161B26"/>
                </a:solidFill>
                <a:latin typeface="Arial"/>
              </a:rPr>
              <a:t>•  Time to sell inventory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Income statement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Revenue growth by period</a:t>
            </a:r>
          </a:p>
          <a:p>
            <a:pPr>
              <a:spcAft>
                <a:spcPts val="900"/>
              </a:spcAft>
            </a:pPr>
            <a:r>
              <a:rPr sz="1400" b="0">
                <a:solidFill>
                  <a:srgbClr val="161B26"/>
                </a:solidFill>
                <a:latin typeface="Arial"/>
              </a:rPr>
              <a:t>•  Gross profit margin</a:t>
            </a:r>
          </a:p>
          <a:p>
            <a:pPr>
              <a:spcAft>
                <a:spcPts val="900"/>
              </a:spcAft>
            </a:pPr>
            <a:r>
              <a:rPr sz="1400" b="0">
                <a:solidFill>
                  <a:srgbClr val="161B26"/>
                </a:solidFill>
                <a:latin typeface="Arial"/>
              </a:rPr>
              <a:t>•  Net profit % of revenue</a:t>
            </a:r>
          </a:p>
          <a:p>
            <a:pPr>
              <a:spcAft>
                <a:spcPts val="900"/>
              </a:spcAft>
            </a:pPr>
            <a:r>
              <a:rPr sz="1400" b="0">
                <a:solidFill>
                  <a:srgbClr val="161B26"/>
                </a:solidFill>
                <a:latin typeface="Arial"/>
              </a:rPr>
              <a:t>•  Interest cover on debt</a:t>
            </a:r>
          </a:p>
          <a:p>
            <a:pPr>
              <a:spcAft>
                <a:spcPts val="900"/>
              </a:spcAft>
            </a:pPr>
            <a:r>
              <a:rPr sz="1400" b="0">
                <a:solidFill>
                  <a:srgbClr val="161B26"/>
                </a:solidFill>
                <a:latin typeface="Arial"/>
              </a:rPr>
              <a:t>•  Payout vs reinvestment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Cash flow statement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Liquidity situation</a:t>
            </a:r>
          </a:p>
          <a:p>
            <a:pPr>
              <a:spcAft>
                <a:spcPts val="900"/>
              </a:spcAft>
            </a:pPr>
            <a:r>
              <a:rPr sz="1400" b="0">
                <a:solidFill>
                  <a:srgbClr val="161B26"/>
                </a:solidFill>
                <a:latin typeface="Arial"/>
              </a:rPr>
              <a:t>•  Sources of cash</a:t>
            </a:r>
          </a:p>
          <a:p>
            <a:pPr>
              <a:spcAft>
                <a:spcPts val="900"/>
              </a:spcAft>
            </a:pPr>
            <a:r>
              <a:rPr sz="1400" b="0">
                <a:solidFill>
                  <a:srgbClr val="161B26"/>
                </a:solidFill>
                <a:latin typeface="Arial"/>
              </a:rPr>
              <a:t>•  Free cash flow generated</a:t>
            </a:r>
          </a:p>
          <a:p>
            <a:pPr>
              <a:spcAft>
                <a:spcPts val="900"/>
              </a:spcAft>
            </a:pPr>
            <a:r>
              <a:rPr sz="1400" b="0">
                <a:solidFill>
                  <a:srgbClr val="161B26"/>
                </a:solidFill>
                <a:latin typeface="Arial"/>
              </a:rPr>
              <a:t>•  Overall cash increase or decrease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RATIO CHECKLIST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…then Ratio-Check the Health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Margins</a:t>
            </a:r>
          </a:p>
          <a:p>
            <a:pPr algn="l">
              <a:spcAft>
                <a:spcPts val="300"/>
              </a:spcAft>
            </a:pPr>
            <a:r>
              <a:rPr sz="1100" b="0">
                <a:solidFill>
                  <a:srgbClr val="5B6372"/>
                </a:solidFill>
                <a:latin typeface="Arial"/>
              </a:rPr>
              <a:t>Gross profit margin and net profit margin on revenue.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Coverage</a:t>
            </a:r>
          </a:p>
          <a:p>
            <a:pPr algn="l">
              <a:spcAft>
                <a:spcPts val="300"/>
              </a:spcAft>
            </a:pPr>
            <a:r>
              <a:rPr sz="1100" b="0">
                <a:solidFill>
                  <a:srgbClr val="5B6372"/>
                </a:solidFill>
                <a:latin typeface="Arial"/>
              </a:rPr>
              <a:t>Ability to meet obligations — debt and interest payments.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Liquidity</a:t>
            </a:r>
          </a:p>
          <a:p>
            <a:pPr algn="l">
              <a:spcAft>
                <a:spcPts val="300"/>
              </a:spcAft>
            </a:pPr>
            <a:r>
              <a:rPr sz="1100" b="0">
                <a:solidFill>
                  <a:srgbClr val="5B6372"/>
                </a:solidFill>
                <a:latin typeface="Arial"/>
              </a:rPr>
              <a:t>Current ratio and quick ratio for obligations under one year.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Leverage</a:t>
            </a:r>
          </a:p>
          <a:p>
            <a:pPr algn="l">
              <a:spcAft>
                <a:spcPts val="300"/>
              </a:spcAft>
            </a:pPr>
            <a:r>
              <a:rPr sz="1100" b="0">
                <a:solidFill>
                  <a:srgbClr val="5B6372"/>
                </a:solidFill>
                <a:latin typeface="Arial"/>
              </a:rPr>
              <a:t>Debt-to-equity: the financing mix.</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Efficiency</a:t>
            </a:r>
          </a:p>
          <a:p>
            <a:pPr algn="l">
              <a:spcAft>
                <a:spcPts val="300"/>
              </a:spcAft>
            </a:pPr>
            <a:r>
              <a:rPr sz="1100" b="0">
                <a:solidFill>
                  <a:srgbClr val="5B6372"/>
                </a:solidFill>
                <a:latin typeface="Arial"/>
              </a:rPr>
              <a:t>Inventory turnover and total asset turnover.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Returns</a:t>
            </a:r>
          </a:p>
          <a:p>
            <a:pPr algn="l">
              <a:spcAft>
                <a:spcPts val="300"/>
              </a:spcAft>
            </a:pPr>
            <a:r>
              <a:rPr sz="1100" b="0">
                <a:solidFill>
                  <a:srgbClr val="5B6372"/>
                </a:solidFill>
                <a:latin typeface="Arial"/>
              </a:rPr>
              <a:t>ROE and ROA: profit from equity and from assets.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INVESTORS EXAMINE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Financial Analysis for Investment Suitability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Revenues</a:t>
            </a:r>
          </a:p>
          <a:p>
            <a:pPr algn="l">
              <a:spcAft>
                <a:spcPts val="300"/>
              </a:spcAft>
            </a:pPr>
            <a:r>
              <a:rPr sz="1100" b="0">
                <a:solidFill>
                  <a:srgbClr val="5B6372"/>
                </a:solidFill>
                <a:latin typeface="Arial"/>
              </a:rPr>
              <a:t>Quantity, quality and timing · growth (ignore one-offs) · concentration · revenue per employee.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Profits</a:t>
            </a:r>
          </a:p>
          <a:p>
            <a:pPr algn="l">
              <a:spcAft>
                <a:spcPts val="300"/>
              </a:spcAft>
            </a:pPr>
            <a:r>
              <a:rPr sz="1100" b="0">
                <a:solidFill>
                  <a:srgbClr val="5B6372"/>
                </a:solidFill>
                <a:latin typeface="Arial"/>
              </a:rPr>
              <a:t>Gross, operating and net profit margins.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Operational efficiency</a:t>
            </a:r>
          </a:p>
          <a:p>
            <a:pPr algn="l">
              <a:spcAft>
                <a:spcPts val="300"/>
              </a:spcAft>
            </a:pPr>
            <a:r>
              <a:rPr sz="1100" b="0">
                <a:solidFill>
                  <a:srgbClr val="5B6372"/>
                </a:solidFill>
                <a:latin typeface="Arial"/>
              </a:rPr>
              <a:t>Receivables turnover and inventory turnover.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Market data</a:t>
            </a:r>
          </a:p>
          <a:p>
            <a:pPr algn="l">
              <a:spcAft>
                <a:spcPts val="300"/>
              </a:spcAft>
            </a:pPr>
            <a:r>
              <a:rPr sz="1100" b="0">
                <a:solidFill>
                  <a:srgbClr val="5B6372"/>
                </a:solidFill>
                <a:latin typeface="Arial"/>
              </a:rPr>
              <a:t>P/E ratio · price-to-book · PEG ratio.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Capital &amp; solvency</a:t>
            </a:r>
          </a:p>
          <a:p>
            <a:pPr algn="l">
              <a:spcAft>
                <a:spcPts val="300"/>
              </a:spcAft>
            </a:pPr>
            <a:r>
              <a:rPr sz="1100" b="0">
                <a:solidFill>
                  <a:srgbClr val="5B6372"/>
                </a:solidFill>
                <a:latin typeface="Arial"/>
              </a:rPr>
              <a:t>Return on equity · debt-to-equity · liquidity.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DuPont index</a:t>
            </a:r>
          </a:p>
          <a:p>
            <a:pPr algn="l">
              <a:spcAft>
                <a:spcPts val="300"/>
              </a:spcAft>
            </a:pPr>
            <a:r>
              <a:rPr sz="1100" b="0">
                <a:solidFill>
                  <a:srgbClr val="5B6372"/>
                </a:solidFill>
                <a:latin typeface="Arial"/>
              </a:rPr>
              <a:t>Net Profit Margin × Asset Turnover × Equity Multiplier = ROE decomposed.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SECTOR-SPECIFIC RATIOS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Industry Ratios — Banking &amp; Insurance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Banking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Insurance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Banking</a:t>
            </a:r>
          </a:p>
          <a:p>
            <a:pPr>
              <a:spcAft>
                <a:spcPts val="1000"/>
              </a:spcAft>
            </a:pPr>
            <a:r>
              <a:rPr sz="1400" b="0">
                <a:solidFill>
                  <a:srgbClr val="5B6372"/>
                </a:solidFill>
                <a:latin typeface="Arial"/>
              </a:rPr>
              <a:t>–  Net interest margin = (Interest income − expense) / Total assets</a:t>
            </a:r>
          </a:p>
          <a:p>
            <a:pPr>
              <a:spcAft>
                <a:spcPts val="1000"/>
              </a:spcAft>
            </a:pPr>
            <a:r>
              <a:rPr sz="1400" b="0">
                <a:solidFill>
                  <a:srgbClr val="5B6372"/>
                </a:solidFill>
                <a:latin typeface="Arial"/>
              </a:rPr>
              <a:t>–  Efficiency ratio = Non-interest expense / Revenue</a:t>
            </a:r>
          </a:p>
          <a:p>
            <a:pPr>
              <a:spcAft>
                <a:spcPts val="1000"/>
              </a:spcAft>
            </a:pPr>
            <a:r>
              <a:rPr sz="1400" b="0">
                <a:solidFill>
                  <a:srgbClr val="5B6372"/>
                </a:solidFill>
                <a:latin typeface="Arial"/>
              </a:rPr>
              <a:t>–  Liquidity coverage ratio · leverage ratio · CET1 ratio</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Insurance</a:t>
            </a:r>
          </a:p>
          <a:p>
            <a:pPr>
              <a:spcAft>
                <a:spcPts val="1000"/>
              </a:spcAft>
            </a:pPr>
            <a:r>
              <a:rPr sz="1400" b="0">
                <a:solidFill>
                  <a:srgbClr val="5B6372"/>
                </a:solidFill>
                <a:latin typeface="Arial"/>
              </a:rPr>
              <a:t>–  Persistency = paying policyholders / active policyholders</a:t>
            </a:r>
          </a:p>
          <a:p>
            <a:pPr>
              <a:spcAft>
                <a:spcPts val="1000"/>
              </a:spcAft>
            </a:pPr>
            <a:r>
              <a:rPr sz="1400" b="0">
                <a:solidFill>
                  <a:srgbClr val="5B6372"/>
                </a:solidFill>
                <a:latin typeface="Arial"/>
              </a:rPr>
              <a:t>–  Solvency = available / required solvency margin</a:t>
            </a:r>
          </a:p>
          <a:p>
            <a:pPr>
              <a:spcAft>
                <a:spcPts val="1000"/>
              </a:spcAft>
            </a:pPr>
            <a:r>
              <a:rPr sz="1400" b="0">
                <a:solidFill>
                  <a:srgbClr val="5B6372"/>
                </a:solidFill>
                <a:latin typeface="Arial"/>
              </a:rPr>
              <a:t>–  Combined ratio · incurred claims ratio · claim settlement ratio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AGAINST INDUSTRY AVERAGES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Benchmarking Financial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enchmarking-sectors.png"/>
          <p:cNvPicPr>
            <a:picLocks noChangeAspect="1"/>
          </p:cNvPicPr>
          <p:nvPr/>
        </p:nvPicPr>
        <p:blipFill>
          <a:blip r:embed="rId2"/>
          <a:stretch>
            <a:fillRect/>
          </a:stretch>
        </p:blipFill>
        <p:spPr>
          <a:xfrm>
            <a:off x="3400137" y="1783080"/>
            <a:ext cx="5391420"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Trend of US sectoral averages — compare your ratios against the sector, not in isolation.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 LENSES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Financial Statement Analysis —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Ratio analysis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the ratios</a:t>
            </a:r>
          </a:p>
          <a:p>
            <a:pPr>
              <a:spcAft>
                <a:spcPts val="900"/>
              </a:spcAft>
            </a:pPr>
            <a:r>
              <a:rPr sz="1400" b="0">
                <a:solidFill>
                  <a:srgbClr val="161B26"/>
                </a:solidFill>
                <a:latin typeface="Arial"/>
              </a:rPr>
              <a:t>•  Compare against benchmarks</a:t>
            </a:r>
          </a:p>
          <a:p>
            <a:pPr>
              <a:spcAft>
                <a:spcPts val="900"/>
              </a:spcAft>
            </a:pPr>
            <a:r>
              <a:rPr sz="1400" b="0">
                <a:solidFill>
                  <a:srgbClr val="161B26"/>
                </a:solidFill>
                <a:latin typeface="Arial"/>
              </a:rPr>
              <a:t>•  Track the ratio trend over time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Horizontal (trend)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Compare across periods</a:t>
            </a:r>
          </a:p>
          <a:p>
            <a:pPr>
              <a:spcAft>
                <a:spcPts val="900"/>
              </a:spcAft>
            </a:pPr>
            <a:r>
              <a:rPr sz="1400" b="0">
                <a:solidFill>
                  <a:srgbClr val="161B26"/>
                </a:solidFill>
                <a:latin typeface="Arial"/>
              </a:rPr>
              <a:t>•  % change of the same line item</a:t>
            </a:r>
          </a:p>
          <a:p>
            <a:pPr>
              <a:spcAft>
                <a:spcPts val="900"/>
              </a:spcAft>
            </a:pPr>
            <a:r>
              <a:rPr sz="1400" b="0">
                <a:solidFill>
                  <a:srgbClr val="161B26"/>
                </a:solidFill>
                <a:latin typeface="Arial"/>
              </a:rPr>
              <a:t>•  Spot growth and deterioration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Vertical analysis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line as % of a base figure</a:t>
            </a:r>
          </a:p>
          <a:p>
            <a:pPr>
              <a:spcAft>
                <a:spcPts val="900"/>
              </a:spcAft>
            </a:pPr>
            <a:r>
              <a:rPr sz="1400" b="0">
                <a:solidFill>
                  <a:srgbClr val="161B26"/>
                </a:solidFill>
                <a:latin typeface="Arial"/>
              </a:rPr>
              <a:t>•  IS lines as % of gross sales</a:t>
            </a:r>
          </a:p>
          <a:p>
            <a:pPr>
              <a:spcAft>
                <a:spcPts val="900"/>
              </a:spcAft>
            </a:pPr>
            <a:r>
              <a:rPr sz="1400" b="0">
                <a:solidFill>
                  <a:srgbClr val="161B26"/>
                </a:solidFill>
                <a:latin typeface="Arial"/>
              </a:rPr>
              <a:t>•  BS lines as % of total assets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 CHANGE ACROSS PERIODS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Horizontal Analysis —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rizontal-analysis-example.jpg"/>
          <p:cNvPicPr>
            <a:picLocks noChangeAspect="1"/>
          </p:cNvPicPr>
          <p:nvPr/>
        </p:nvPicPr>
        <p:blipFill>
          <a:blip r:embed="rId2"/>
          <a:stretch>
            <a:fillRect/>
          </a:stretch>
        </p:blipFill>
        <p:spPr>
          <a:xfrm>
            <a:off x="1661269" y="1783080"/>
            <a:ext cx="8869156"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Income statement lines for two years with the percentage change of each item.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FOUR-YEAR BALANCE SHEET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Horizontal Analysis — Case Study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rizontal-case-bs.png"/>
          <p:cNvPicPr>
            <a:picLocks noChangeAspect="1"/>
          </p:cNvPicPr>
          <p:nvPr/>
        </p:nvPicPr>
        <p:blipFill>
          <a:blip r:embed="rId2"/>
          <a:stretch>
            <a:fillRect/>
          </a:stretch>
        </p:blipFill>
        <p:spPr>
          <a:xfrm>
            <a:off x="3480179" y="1783080"/>
            <a:ext cx="5231336"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Balance-sheet items tracked across 2018–2021 — the raw material for trend analysis.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EVERY LINE AS % OF THE BASE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Vertical Analysis —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ertical-analysis-example.png"/>
          <p:cNvPicPr>
            <a:picLocks noChangeAspect="1"/>
          </p:cNvPicPr>
          <p:nvPr/>
        </p:nvPicPr>
        <p:blipFill>
          <a:blip r:embed="rId2"/>
          <a:stretch>
            <a:fillRect/>
          </a:stretch>
        </p:blipFill>
        <p:spPr>
          <a:xfrm>
            <a:off x="3209867" y="1783080"/>
            <a:ext cx="5771960"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Income-statement items expressed as a percentage of sales for three years.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Solvency &amp; Financial Risk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Return to Orchid Logistics (Company X) and Marina Retail Group (Company Y). Using their balance sheets and income statements, compare the two companies' solvency risk — debt-to-equity, financial leverage and interest coverage — and conclude which is the riskier borrower.</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 solvency comparison table (D/E, leverage, interest coverage) for X and Y with a reasoned risk verdict.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FA-Activity-06-Solvency-Analysis.xlsx in activities/activity06</a:t>
            </a:r>
          </a:p>
          <a:p>
            <a:pPr algn="l">
              <a:spcAft>
                <a:spcPts val="300"/>
              </a:spcAft>
            </a:pPr>
            <a:r>
              <a:rPr sz="1200" b="1">
                <a:solidFill>
                  <a:srgbClr val="10B981"/>
                </a:solidFill>
                <a:latin typeface="Arial"/>
              </a:rPr>
              <a:t>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Planning &amp; Budgeting using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Budgets plan the spending; forecasts predict the outcome; variances close the loop.</a:t>
            </a:r>
          </a:p>
          <a:p>
            <a:pPr>
              <a:spcAft>
                <a:spcPts val="1000"/>
              </a:spcAft>
            </a:pPr>
            <a:r>
              <a:rPr sz="1700" b="0">
                <a:solidFill>
                  <a:srgbClr val="161B26"/>
                </a:solidFill>
                <a:latin typeface="Arial"/>
              </a:rPr>
              <a:t>•  Capital budgeting decisions: payback, discounted payback, NPV, PI and IRR.</a:t>
            </a:r>
          </a:p>
          <a:p>
            <a:pPr>
              <a:spcAft>
                <a:spcPts val="1000"/>
              </a:spcAft>
            </a:pPr>
            <a:r>
              <a:rPr sz="1700" b="0">
                <a:solidFill>
                  <a:srgbClr val="161B26"/>
                </a:solidFill>
                <a:latin typeface="Arial"/>
              </a:rPr>
              <a:t>•  Financial health = balance sheet + income statement + cash flow, then ratio-check.</a:t>
            </a:r>
          </a:p>
          <a:p>
            <a:pPr>
              <a:spcAft>
                <a:spcPts val="1000"/>
              </a:spcAft>
            </a:pPr>
            <a:r>
              <a:rPr sz="1700" b="0">
                <a:solidFill>
                  <a:srgbClr val="161B26"/>
                </a:solidFill>
                <a:latin typeface="Arial"/>
              </a:rPr>
              <a:t>•  Ratio, horizontal and vertical analysis — plus benchmarking — complete the toolkit.</a:t>
            </a:r>
          </a:p>
          <a:p>
            <a:pPr>
              <a:spcAft>
                <a:spcPts val="1000"/>
              </a:spcAft>
            </a:pPr>
            <a:r>
              <a:rPr sz="1700" b="0">
                <a:solidFill>
                  <a:srgbClr val="161B26"/>
                </a:solidFill>
                <a:latin typeface="Arial"/>
              </a:rPr>
              <a:t>•  You evaluated an investment project and compared two companies' solvency risk.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Financial statements (LO1)</a:t>
            </a:r>
          </a:p>
          <a:p>
            <a:pPr algn="l">
              <a:spcAft>
                <a:spcPts val="300"/>
              </a:spcAft>
            </a:pPr>
            <a:r>
              <a:rPr sz="1300" b="0">
                <a:solidFill>
                  <a:srgbClr val="5B6372"/>
                </a:solidFill>
                <a:latin typeface="Arial"/>
              </a:rPr>
              <a:t>Read and prepared balance sheets, income statements and cash flow statements.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Ratio analysis (LO2)</a:t>
            </a:r>
          </a:p>
          <a:p>
            <a:pPr algn="l">
              <a:spcAft>
                <a:spcPts val="300"/>
              </a:spcAft>
            </a:pPr>
            <a:r>
              <a:rPr sz="1300" b="0">
                <a:solidFill>
                  <a:srgbClr val="5B6372"/>
                </a:solidFill>
                <a:latin typeface="Arial"/>
              </a:rPr>
              <a:t>Evaluated performance with liquidity, leverage, efficiency and profitability ratios and their trends.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Planning &amp; budgeting (LO3)</a:t>
            </a:r>
          </a:p>
          <a:p>
            <a:pPr algn="l">
              <a:spcAft>
                <a:spcPts val="300"/>
              </a:spcAft>
            </a:pPr>
            <a:r>
              <a:rPr sz="1300" b="0">
                <a:solidFill>
                  <a:srgbClr val="5B6372"/>
                </a:solidFill>
                <a:latin typeface="Arial"/>
              </a:rPr>
              <a:t>Built budgets, evaluated investments (payback, NPV, PI) and assessed financial health and risk.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KEEP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WSQ - Quickbooks Accounting System for Small and Medium Enterprises</a:t>
            </a:r>
          </a:p>
          <a:p>
            <a:pPr>
              <a:spcAft>
                <a:spcPts val="1000"/>
              </a:spcAft>
            </a:pPr>
            <a:r>
              <a:rPr sz="1700" b="0">
                <a:solidFill>
                  <a:srgbClr val="161B26"/>
                </a:solidFill>
                <a:latin typeface="Arial"/>
              </a:rPr>
              <a:t>•  WSQ - Unlocking the Power of Accounting and Tax Systems for SMEs</a:t>
            </a:r>
          </a:p>
          <a:p>
            <a:pPr>
              <a:spcAft>
                <a:spcPts val="1000"/>
              </a:spcAft>
            </a:pPr>
            <a:r>
              <a:rPr sz="1700" b="0">
                <a:solidFill>
                  <a:srgbClr val="161B26"/>
                </a:solidFill>
                <a:latin typeface="Arial"/>
              </a:rPr>
              <a:t>•  WSQ - Statistical Data Analysis with Excel for Beginners</a:t>
            </a:r>
          </a:p>
          <a:p>
            <a:pPr>
              <a:spcAft>
                <a:spcPts val="1000"/>
              </a:spcAft>
            </a:pPr>
            <a:r>
              <a:rPr sz="1700" b="0">
                <a:solidFill>
                  <a:srgbClr val="161B26"/>
                </a:solidFill>
                <a:latin typeface="Arial"/>
              </a:rPr>
              <a:t>•  WSQ - Budgeting for Small and Medium Enterprises</a:t>
            </a:r>
          </a:p>
          <a:p>
            <a:pPr>
              <a:spcAft>
                <a:spcPts val="1000"/>
              </a:spcAft>
            </a:pPr>
            <a:r>
              <a:rPr sz="1700" b="0">
                <a:solidFill>
                  <a:srgbClr val="161B26"/>
                </a:solidFill>
                <a:latin typeface="Arial"/>
              </a:rPr>
              <a:t>•  WSQ - Software Automation with Excel VBA Programming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 have any enquiries during and after the class, contact us:</a:t>
            </a:r>
          </a:p>
          <a:p>
            <a:pPr>
              <a:spcAft>
                <a:spcPts val="1000"/>
              </a:spcAft>
            </a:pPr>
            <a:r>
              <a:rPr sz="1800" b="0">
                <a:solidFill>
                  <a:srgbClr val="161B26"/>
                </a:solidFill>
                <a:latin typeface="Arial"/>
              </a:rPr>
              <a:t>•  Email: enquiry@tertiaryinfotech.com</a:t>
            </a:r>
          </a:p>
          <a:p>
            <a:pPr>
              <a:spcAft>
                <a:spcPts val="1000"/>
              </a:spcAft>
            </a:pPr>
            <a:r>
              <a:rPr sz="1800" b="0">
                <a:solidFill>
                  <a:srgbClr val="161B26"/>
                </a:solidFill>
                <a:latin typeface="Arial"/>
              </a:rPr>
              <a:t>•  Tel: +65 6100 0613</a:t>
            </a:r>
          </a:p>
          <a:p>
            <a:pPr>
              <a:spcAft>
                <a:spcPts val="1000"/>
              </a:spcAft>
            </a:pPr>
            <a:r>
              <a:rPr sz="1800" b="0">
                <a:solidFill>
                  <a:srgbClr val="161B26"/>
                </a:solidFill>
                <a:latin typeface="Arial"/>
              </a:rPr>
              <a:t>•  Website: www.tertiarycourses.com.sg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(WA) — Short-Answer Questions (SAQ), 1 hour, open book.</a:t>
            </a:r>
          </a:p>
          <a:p>
            <a:pPr>
              <a:spcAft>
                <a:spcPts val="1000"/>
              </a:spcAft>
            </a:pPr>
            <a:r>
              <a:rPr sz="2000" b="0">
                <a:solidFill>
                  <a:srgbClr val="161B26"/>
                </a:solidFill>
                <a:latin typeface="Arial"/>
              </a:rPr>
              <a:t>•  Practical Performance (PP) — financial-analysis tasks on real statements, 1 hour, open book.</a:t>
            </a:r>
          </a:p>
          <a:p>
            <a:pPr>
              <a:spcAft>
                <a:spcPts val="1000"/>
              </a:spcAft>
            </a:pPr>
            <a:r>
              <a:rPr sz="2000" b="0">
                <a:solidFill>
                  <a:srgbClr val="161B26"/>
                </a:solidFill>
                <a:latin typeface="Arial"/>
              </a:rPr>
              <a:t>•  Open book: slides, Learner Guide and approved materials only.</a:t>
            </a:r>
          </a:p>
          <a:p>
            <a:pPr>
              <a:spcAft>
                <a:spcPts val="1000"/>
              </a:spcAft>
            </a:pPr>
            <a:r>
              <a:rPr sz="2000" b="0">
                <a:solidFill>
                  <a:srgbClr val="161B26"/>
                </a:solidFill>
                <a:latin typeface="Arial"/>
              </a:rPr>
              <a:t>•  Remember to take the Assessment digital attendance (TRAQOM).</a:t>
            </a:r>
          </a:p>
          <a:p>
            <a:pPr>
              <a:spcAft>
                <a:spcPts val="1000"/>
              </a:spcAft>
            </a:pPr>
            <a:r>
              <a:rPr sz="2000" b="0">
                <a:solidFill>
                  <a:srgbClr val="161B26"/>
                </a:solidFill>
                <a:latin typeface="Arial"/>
              </a:rPr>
              <a:t>•  Submit your completed answers on the LMS at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https://lms-tms.tertiaryinfotech.com/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Cert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ert-traqom.png"/>
          <p:cNvPicPr>
            <a:picLocks noChangeAspect="1"/>
          </p:cNvPicPr>
          <p:nvPr/>
        </p:nvPicPr>
        <p:blipFill>
          <a:blip r:embed="rId2"/>
          <a:stretch>
            <a:fillRect/>
          </a:stretch>
        </p:blipFill>
        <p:spPr>
          <a:xfrm>
            <a:off x="792327" y="2408583"/>
            <a:ext cx="10607040" cy="3092394"/>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Scan the QR codes to receive your certificate and complete the TRAQOM survey.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 or administrator will show you the digital attendance QR code generated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IN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read, analyse and plan with financial statements — and put them to work for your SME.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